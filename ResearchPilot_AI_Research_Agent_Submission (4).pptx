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mailto:samikshayadav308@gmail.com" TargetMode="External"/><Relationship Id="rId1" Type="http://schemas.openxmlformats.org/officeDocument/2006/relationships/image" Target="../media/image-2-1.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samikshayadav-ux/research_pilot"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583680" y="-1280160"/>
            <a:ext cx="4206240" cy="4206240"/>
          </a:xfrm>
          <a:prstGeom prst="ellipse">
            <a:avLst/>
          </a:prstGeom>
          <a:solidFill>
            <a:srgbClr val="0F62FE">
              <a:alpha val="30000"/>
            </a:srgbClr>
          </a:solidFill>
          <a:ln w="12700">
            <a:solidFill>
              <a:srgbClr val="0F62FE"/>
            </a:solidFill>
            <a:prstDash val="solid"/>
          </a:ln>
        </p:spPr>
      </p:sp>
      <p:sp>
        <p:nvSpPr>
          <p:cNvPr id="3" name="Shape 1"/>
          <p:cNvSpPr/>
          <p:nvPr/>
        </p:nvSpPr>
        <p:spPr>
          <a:xfrm>
            <a:off x="-1097280" y="3566160"/>
            <a:ext cx="3108960" cy="3108960"/>
          </a:xfrm>
          <a:prstGeom prst="ellipse">
            <a:avLst/>
          </a:prstGeom>
          <a:solidFill>
            <a:srgbClr val="0F62FE">
              <a:alpha val="18000"/>
            </a:srgbClr>
          </a:solidFill>
          <a:ln w="12700">
            <a:solidFill>
              <a:srgbClr val="0F62FE"/>
            </a:solidFill>
            <a:prstDash val="solid"/>
          </a:ln>
        </p:spPr>
      </p:sp>
      <p:sp>
        <p:nvSpPr>
          <p:cNvPr id="4" name="Text 2"/>
          <p:cNvSpPr txBox="1"/>
          <p:nvPr/>
        </p:nvSpPr>
        <p:spPr>
          <a:xfrm>
            <a:off x="731520" y="1188720"/>
            <a:ext cx="768096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IBM University Engagement Project Submission</a:t>
            </a:r>
            <a:endParaRPr lang="en-US" sz="4000" dirty="0"/>
          </a:p>
        </p:txBody>
      </p:sp>
      <p:sp>
        <p:nvSpPr>
          <p:cNvPr id="5" name="Text 3"/>
          <p:cNvSpPr txBox="1"/>
          <p:nvPr/>
        </p:nvSpPr>
        <p:spPr>
          <a:xfrm>
            <a:off x="731520" y="2926080"/>
            <a:ext cx="7315200" cy="822960"/>
          </a:xfrm>
          <a:prstGeom prst="rect">
            <a:avLst/>
          </a:prstGeom>
          <a:noFill/>
          <a:ln/>
        </p:spPr>
        <p:txBody>
          <a:bodyPr wrap="square" lIns="0" tIns="0" rIns="0" bIns="0" rtlCol="0" anchor="t"/>
          <a:lstStyle/>
          <a:p>
            <a:pPr indent="0" marL="0">
              <a:buNone/>
            </a:pPr>
            <a:r>
              <a:rPr lang="en-US" sz="1800" i="1" dirty="0">
                <a:solidFill>
                  <a:srgbClr val="A6C8FF"/>
                </a:solidFill>
                <a:latin typeface="Calibri" pitchFamily="34" charset="0"/>
                <a:ea typeface="Calibri" pitchFamily="34" charset="-122"/>
                <a:cs typeface="Calibri" pitchFamily="34" charset="-120"/>
              </a:rPr>
              <a:t>“Exploring the Power of Agentic AI with IBM Granite and IBM Bob”</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365760"/>
            <a:ext cx="8229600" cy="777240"/>
          </a:xfrm>
          <a:prstGeom prst="roundRect">
            <a:avLst>
              <a:gd name="adj" fmla="val 941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3" name="Shape 1"/>
          <p:cNvSpPr/>
          <p:nvPr/>
        </p:nvSpPr>
        <p:spPr>
          <a:xfrm>
            <a:off x="457200" y="1280160"/>
            <a:ext cx="8229600" cy="777240"/>
          </a:xfrm>
          <a:prstGeom prst="roundRect">
            <a:avLst>
              <a:gd name="adj" fmla="val 941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4" name="Text 2"/>
          <p:cNvSpPr txBox="1"/>
          <p:nvPr/>
        </p:nvSpPr>
        <p:spPr>
          <a:xfrm>
            <a:off x="594360" y="365760"/>
            <a:ext cx="7955280" cy="777240"/>
          </a:xfrm>
          <a:prstGeom prst="rect">
            <a:avLst/>
          </a:prstGeom>
          <a:noFill/>
          <a:ln/>
        </p:spPr>
        <p:txBody>
          <a:bodyPr wrap="square" lIns="1524" tIns="1524" rIns="1524" bIns="1524" rtlCol="0" anchor="ctr"/>
          <a:lstStyle/>
          <a:p>
            <a:pPr indent="0" marL="0">
              <a:spcAft>
                <a:spcPts val="500"/>
              </a:spcAft>
              <a:buNone/>
            </a:pPr>
            <a:r>
              <a:rPr lang="en-US" sz="2000" b="1" dirty="0">
                <a:solidFill>
                  <a:srgbClr val="1B2A41"/>
                </a:solidFill>
                <a:latin typeface="Calibri" pitchFamily="34" charset="0"/>
                <a:ea typeface="Calibri" pitchFamily="34" charset="-122"/>
                <a:cs typeface="Calibri" pitchFamily="34" charset="-120"/>
              </a:rPr>
              <a:t>Project Tile –</a:t>
            </a:r>
            <a:pPr indent="0" marL="0">
              <a:spcAft>
                <a:spcPts val="500"/>
              </a:spcAft>
              <a:buNone/>
            </a:pPr>
            <a:r>
              <a:rPr lang="en-US" sz="2000" dirty="0">
                <a:solidFill>
                  <a:srgbClr val="1B2A41"/>
                </a:solidFill>
                <a:latin typeface="Calibri" pitchFamily="34" charset="0"/>
                <a:ea typeface="Calibri" pitchFamily="34" charset="-122"/>
                <a:cs typeface="Calibri" pitchFamily="34" charset="-120"/>
              </a:rPr>
              <a:t> [</a:t>
            </a:r>
            <a:pPr indent="0" marL="0">
              <a:spcAft>
                <a:spcPts val="500"/>
              </a:spcAft>
              <a:buNone/>
            </a:pPr>
            <a:r>
              <a:rPr lang="en-US" sz="2000" b="1" dirty="0">
                <a:solidFill>
                  <a:srgbClr val="1B2A41"/>
                </a:solidFill>
                <a:latin typeface="Calibri" pitchFamily="34" charset="0"/>
                <a:ea typeface="Calibri" pitchFamily="34" charset="-122"/>
                <a:cs typeface="Calibri" pitchFamily="34" charset="-120"/>
              </a:rPr>
              <a:t>ResearchPilot AI – Research Agent</a:t>
            </a:r>
            <a:pPr indent="0" marL="0">
              <a:spcAft>
                <a:spcPts val="500"/>
              </a:spcAft>
              <a:buNone/>
            </a:pPr>
            <a:r>
              <a:rPr lang="en-US" sz="2000" dirty="0">
                <a:solidFill>
                  <a:srgbClr val="1B2A41"/>
                </a:solidFill>
                <a:latin typeface="Calibri" pitchFamily="34" charset="0"/>
                <a:ea typeface="Calibri" pitchFamily="34" charset="-122"/>
                <a:cs typeface="Calibri" pitchFamily="34" charset="-120"/>
              </a:rPr>
              <a:t>]</a:t>
            </a:r>
            <a:endParaRPr lang="en-US" sz="2000" dirty="0"/>
          </a:p>
        </p:txBody>
      </p:sp>
      <p:sp>
        <p:nvSpPr>
          <p:cNvPr id="5" name="Text 3"/>
          <p:cNvSpPr txBox="1"/>
          <p:nvPr/>
        </p:nvSpPr>
        <p:spPr>
          <a:xfrm>
            <a:off x="594360" y="1280160"/>
            <a:ext cx="7955280" cy="777240"/>
          </a:xfrm>
          <a:prstGeom prst="rect">
            <a:avLst/>
          </a:prstGeom>
          <a:noFill/>
          <a:ln/>
        </p:spPr>
        <p:txBody>
          <a:bodyPr wrap="square" lIns="1524" tIns="1524" rIns="1524" bIns="1524" rtlCol="0" anchor="ctr"/>
          <a:lstStyle/>
          <a:p>
            <a:pPr indent="0" marL="0">
              <a:spcAft>
                <a:spcPts val="500"/>
              </a:spcAft>
              <a:buNone/>
            </a:pPr>
            <a:r>
              <a:rPr lang="en-US" sz="2000" b="1" dirty="0">
                <a:solidFill>
                  <a:srgbClr val="1B2A41"/>
                </a:solidFill>
                <a:latin typeface="Calibri" pitchFamily="34" charset="0"/>
                <a:ea typeface="Calibri" pitchFamily="34" charset="-122"/>
                <a:cs typeface="Calibri" pitchFamily="34" charset="-120"/>
              </a:rPr>
              <a:t>Domain of  Project –</a:t>
            </a:r>
            <a:pPr indent="0" marL="0">
              <a:spcAft>
                <a:spcPts val="500"/>
              </a:spcAft>
              <a:buNone/>
            </a:pPr>
            <a:r>
              <a:rPr lang="en-US" sz="2000" dirty="0">
                <a:solidFill>
                  <a:srgbClr val="1B2A41"/>
                </a:solidFill>
                <a:latin typeface="Calibri" pitchFamily="34" charset="0"/>
                <a:ea typeface="Calibri" pitchFamily="34" charset="-122"/>
                <a:cs typeface="Calibri" pitchFamily="34" charset="-120"/>
              </a:rPr>
              <a:t> [ Education / Research ]</a:t>
            </a:r>
            <a:endParaRPr lang="en-US" sz="2000" dirty="0"/>
          </a:p>
        </p:txBody>
      </p:sp>
      <p:sp>
        <p:nvSpPr>
          <p:cNvPr id="6" name="Shape 4"/>
          <p:cNvSpPr/>
          <p:nvPr/>
        </p:nvSpPr>
        <p:spPr>
          <a:xfrm>
            <a:off x="457200" y="2331720"/>
            <a:ext cx="1828800" cy="548640"/>
          </a:xfrm>
          <a:prstGeom prst="rect">
            <a:avLst/>
          </a:prstGeom>
          <a:solidFill>
            <a:srgbClr val="0F62FE"/>
          </a:solidFill>
          <a:ln w="19050">
            <a:solidFill>
              <a:srgbClr val="FFFFFF"/>
            </a:solidFill>
            <a:prstDash val="solid"/>
          </a:ln>
        </p:spPr>
      </p:sp>
      <p:sp>
        <p:nvSpPr>
          <p:cNvPr id="7" name="Text 5"/>
          <p:cNvSpPr txBox="1"/>
          <p:nvPr/>
        </p:nvSpPr>
        <p:spPr>
          <a:xfrm>
            <a:off x="457200" y="2331720"/>
            <a:ext cx="1828800" cy="54864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Student Name</a:t>
            </a:r>
            <a:endParaRPr lang="en-US" sz="1300" dirty="0"/>
          </a:p>
        </p:txBody>
      </p:sp>
      <p:sp>
        <p:nvSpPr>
          <p:cNvPr id="8" name="Shape 6"/>
          <p:cNvSpPr/>
          <p:nvPr/>
        </p:nvSpPr>
        <p:spPr>
          <a:xfrm>
            <a:off x="457200" y="2880360"/>
            <a:ext cx="1828800" cy="2011680"/>
          </a:xfrm>
          <a:prstGeom prst="rect">
            <a:avLst/>
          </a:prstGeom>
          <a:solidFill>
            <a:srgbClr val="FFFFFF"/>
          </a:solidFill>
          <a:ln w="12700">
            <a:solidFill>
              <a:srgbClr val="D5DEEE"/>
            </a:solidFill>
            <a:prstDash val="solid"/>
          </a:ln>
          <a:effectLst>
            <a:outerShdw sx="100000" sy="100000" kx="0" ky="0" algn="bl" rotWithShape="0" blurRad="101600" dist="25400" dir="5400000">
              <a:srgbClr val="0B1F3A">
                <a:alpha val="12000"/>
              </a:srgbClr>
            </a:outerShdw>
          </a:effectLst>
        </p:spPr>
      </p:sp>
      <p:sp>
        <p:nvSpPr>
          <p:cNvPr id="9" name="Shape 7"/>
          <p:cNvSpPr/>
          <p:nvPr/>
        </p:nvSpPr>
        <p:spPr>
          <a:xfrm>
            <a:off x="2286000" y="2331720"/>
            <a:ext cx="1828800" cy="548640"/>
          </a:xfrm>
          <a:prstGeom prst="rect">
            <a:avLst/>
          </a:prstGeom>
          <a:solidFill>
            <a:srgbClr val="0F62FE"/>
          </a:solidFill>
          <a:ln w="19050">
            <a:solidFill>
              <a:srgbClr val="FFFFFF"/>
            </a:solidFill>
            <a:prstDash val="solid"/>
          </a:ln>
        </p:spPr>
      </p:sp>
      <p:sp>
        <p:nvSpPr>
          <p:cNvPr id="10" name="Text 8"/>
          <p:cNvSpPr txBox="1"/>
          <p:nvPr/>
        </p:nvSpPr>
        <p:spPr>
          <a:xfrm>
            <a:off x="2286000" y="2331720"/>
            <a:ext cx="1828800" cy="54864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Recent Passport Photo</a:t>
            </a:r>
            <a:endParaRPr lang="en-US" sz="1300" dirty="0"/>
          </a:p>
        </p:txBody>
      </p:sp>
      <p:sp>
        <p:nvSpPr>
          <p:cNvPr id="11" name="Shape 9"/>
          <p:cNvSpPr/>
          <p:nvPr/>
        </p:nvSpPr>
        <p:spPr>
          <a:xfrm>
            <a:off x="2286000" y="2880360"/>
            <a:ext cx="1828800" cy="2011680"/>
          </a:xfrm>
          <a:prstGeom prst="rect">
            <a:avLst/>
          </a:prstGeom>
          <a:solidFill>
            <a:srgbClr val="FFFFFF"/>
          </a:solidFill>
          <a:ln w="12700">
            <a:solidFill>
              <a:srgbClr val="D5DEEE"/>
            </a:solidFill>
            <a:prstDash val="solid"/>
          </a:ln>
          <a:effectLst>
            <a:outerShdw sx="100000" sy="100000" kx="0" ky="0" algn="bl" rotWithShape="0" blurRad="101600" dist="25400" dir="5400000">
              <a:srgbClr val="0B1F3A">
                <a:alpha val="12000"/>
              </a:srgbClr>
            </a:outerShdw>
          </a:effectLst>
        </p:spPr>
      </p:sp>
      <p:sp>
        <p:nvSpPr>
          <p:cNvPr id="12" name="Shape 10"/>
          <p:cNvSpPr/>
          <p:nvPr/>
        </p:nvSpPr>
        <p:spPr>
          <a:xfrm>
            <a:off x="4114800" y="2331720"/>
            <a:ext cx="2468880" cy="548640"/>
          </a:xfrm>
          <a:prstGeom prst="rect">
            <a:avLst/>
          </a:prstGeom>
          <a:solidFill>
            <a:srgbClr val="0F62FE"/>
          </a:solidFill>
          <a:ln w="19050">
            <a:solidFill>
              <a:srgbClr val="FFFFFF"/>
            </a:solidFill>
            <a:prstDash val="solid"/>
          </a:ln>
        </p:spPr>
      </p:sp>
      <p:sp>
        <p:nvSpPr>
          <p:cNvPr id="13" name="Text 11"/>
          <p:cNvSpPr txBox="1"/>
          <p:nvPr/>
        </p:nvSpPr>
        <p:spPr>
          <a:xfrm>
            <a:off x="4114800" y="2331720"/>
            <a:ext cx="2468880" cy="54864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Email ID</a:t>
            </a:r>
            <a:endParaRPr lang="en-US" sz="1300" dirty="0"/>
          </a:p>
        </p:txBody>
      </p:sp>
      <p:sp>
        <p:nvSpPr>
          <p:cNvPr id="14" name="Shape 12"/>
          <p:cNvSpPr/>
          <p:nvPr/>
        </p:nvSpPr>
        <p:spPr>
          <a:xfrm>
            <a:off x="4114800" y="2880360"/>
            <a:ext cx="2468880" cy="2011680"/>
          </a:xfrm>
          <a:prstGeom prst="rect">
            <a:avLst/>
          </a:prstGeom>
          <a:solidFill>
            <a:srgbClr val="FFFFFF"/>
          </a:solidFill>
          <a:ln w="12700">
            <a:solidFill>
              <a:srgbClr val="D5DEEE"/>
            </a:solidFill>
            <a:prstDash val="solid"/>
          </a:ln>
          <a:effectLst>
            <a:outerShdw sx="100000" sy="100000" kx="0" ky="0" algn="bl" rotWithShape="0" blurRad="101600" dist="25400" dir="5400000">
              <a:srgbClr val="0B1F3A">
                <a:alpha val="12000"/>
              </a:srgbClr>
            </a:outerShdw>
          </a:effectLst>
        </p:spPr>
      </p:sp>
      <p:sp>
        <p:nvSpPr>
          <p:cNvPr id="15" name="Shape 13"/>
          <p:cNvSpPr/>
          <p:nvPr/>
        </p:nvSpPr>
        <p:spPr>
          <a:xfrm>
            <a:off x="6583680" y="2331720"/>
            <a:ext cx="2103120" cy="548640"/>
          </a:xfrm>
          <a:prstGeom prst="rect">
            <a:avLst/>
          </a:prstGeom>
          <a:solidFill>
            <a:srgbClr val="0F62FE"/>
          </a:solidFill>
          <a:ln w="19050">
            <a:solidFill>
              <a:srgbClr val="FFFFFF"/>
            </a:solidFill>
            <a:prstDash val="solid"/>
          </a:ln>
        </p:spPr>
      </p:sp>
      <p:sp>
        <p:nvSpPr>
          <p:cNvPr id="16" name="Text 14"/>
          <p:cNvSpPr txBox="1"/>
          <p:nvPr/>
        </p:nvSpPr>
        <p:spPr>
          <a:xfrm>
            <a:off x="6583680" y="2331720"/>
            <a:ext cx="2103120" cy="54864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Mobile number [WhatsApp]</a:t>
            </a:r>
            <a:endParaRPr lang="en-US" sz="1300" dirty="0"/>
          </a:p>
        </p:txBody>
      </p:sp>
      <p:sp>
        <p:nvSpPr>
          <p:cNvPr id="17" name="Shape 15"/>
          <p:cNvSpPr/>
          <p:nvPr/>
        </p:nvSpPr>
        <p:spPr>
          <a:xfrm>
            <a:off x="6583680" y="2880360"/>
            <a:ext cx="2103120" cy="2011680"/>
          </a:xfrm>
          <a:prstGeom prst="rect">
            <a:avLst/>
          </a:prstGeom>
          <a:solidFill>
            <a:srgbClr val="FFFFFF"/>
          </a:solidFill>
          <a:ln w="12700">
            <a:solidFill>
              <a:srgbClr val="D5DEEE"/>
            </a:solidFill>
            <a:prstDash val="solid"/>
          </a:ln>
          <a:effectLst>
            <a:outerShdw sx="100000" sy="100000" kx="0" ky="0" algn="bl" rotWithShape="0" blurRad="101600" dist="25400" dir="5400000">
              <a:srgbClr val="0B1F3A">
                <a:alpha val="12000"/>
              </a:srgbClr>
            </a:outerShdw>
          </a:effectLst>
        </p:spPr>
      </p:sp>
      <p:sp>
        <p:nvSpPr>
          <p:cNvPr id="18" name="Text 16"/>
          <p:cNvSpPr txBox="1"/>
          <p:nvPr/>
        </p:nvSpPr>
        <p:spPr>
          <a:xfrm>
            <a:off x="457200" y="2880360"/>
            <a:ext cx="1828800" cy="2011680"/>
          </a:xfrm>
          <a:prstGeom prst="rect">
            <a:avLst/>
          </a:prstGeom>
          <a:noFill/>
          <a:ln/>
        </p:spPr>
        <p:txBody>
          <a:bodyPr wrap="square" lIns="1270" tIns="1270" rIns="1270" bIns="127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Sam</a:t>
            </a:r>
            <a:endParaRPr lang="en-US" sz="1600" dirty="0"/>
          </a:p>
        </p:txBody>
      </p:sp>
      <p:pic>
        <p:nvPicPr>
          <p:cNvPr id="19" name="Image 0" descr="/mnt/user-data/uploads/WhatsApp_Image_2026-09-23_at_17_49_47.jpeg">    </p:cNvPr>
          <p:cNvPicPr>
            <a:picLocks noChangeAspect="1"/>
          </p:cNvPicPr>
          <p:nvPr/>
        </p:nvPicPr>
        <p:blipFill>
          <a:blip r:embed="rId1"/>
          <a:stretch>
            <a:fillRect/>
          </a:stretch>
        </p:blipFill>
        <p:spPr>
          <a:xfrm>
            <a:off x="2514600" y="2971800"/>
            <a:ext cx="1371600" cy="1828800"/>
          </a:xfrm>
          <a:prstGeom prst="rect">
            <a:avLst/>
          </a:prstGeom>
        </p:spPr>
      </p:pic>
      <p:sp>
        <p:nvSpPr>
          <p:cNvPr id="20" name="Text 17"/>
          <p:cNvSpPr txBox="1"/>
          <p:nvPr/>
        </p:nvSpPr>
        <p:spPr>
          <a:xfrm>
            <a:off x="4114800" y="2880360"/>
            <a:ext cx="2468880" cy="2011680"/>
          </a:xfrm>
          <a:prstGeom prst="rect">
            <a:avLst/>
          </a:prstGeom>
          <a:noFill/>
          <a:ln/>
        </p:spPr>
        <p:txBody>
          <a:bodyPr wrap="square" lIns="1270" tIns="1270" rIns="1270" bIns="1270" rtlCol="0" anchor="ctr"/>
          <a:lstStyle/>
          <a:p>
            <a:pPr algn="ctr" indent="0" marL="0">
              <a:buNone/>
            </a:pPr>
            <a:r>
              <a:rPr lang="en-US" sz="1200" u="sng" dirty="0">
                <a:solidFill>
                  <a:srgbClr val="0F62F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samikshayadav308@gmail.com</a:t>
            </a:r>
            <a:endParaRPr lang="en-US" sz="1200" dirty="0"/>
          </a:p>
        </p:txBody>
      </p:sp>
      <p:sp>
        <p:nvSpPr>
          <p:cNvPr id="21" name="Text 18"/>
          <p:cNvSpPr txBox="1"/>
          <p:nvPr/>
        </p:nvSpPr>
        <p:spPr>
          <a:xfrm>
            <a:off x="6583680" y="2880360"/>
            <a:ext cx="2103120" cy="2011680"/>
          </a:xfrm>
          <a:prstGeom prst="rect">
            <a:avLst/>
          </a:prstGeom>
          <a:noFill/>
          <a:ln/>
        </p:spPr>
        <p:txBody>
          <a:bodyPr wrap="square" lIns="1270" tIns="1270" rIns="1270" bIns="1270" rtlCol="0" anchor="ctr"/>
          <a:lstStyle/>
          <a:p>
            <a:pPr algn="ctr" indent="0" marL="0">
              <a:buNone/>
            </a:pPr>
            <a:r>
              <a:rPr lang="en-US" sz="1500" dirty="0">
                <a:solidFill>
                  <a:srgbClr val="1B2A41"/>
                </a:solidFill>
                <a:latin typeface="Calibri" pitchFamily="34" charset="0"/>
                <a:ea typeface="Calibri" pitchFamily="34" charset="-122"/>
                <a:cs typeface="Calibri" pitchFamily="34" charset="-120"/>
              </a:rPr>
              <a:t>8197275488</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Problem Statement -</a:t>
            </a:r>
            <a:endParaRPr lang="en-US" sz="2600" dirty="0"/>
          </a:p>
        </p:txBody>
      </p:sp>
      <p:sp>
        <p:nvSpPr>
          <p:cNvPr id="4" name="Shape 2"/>
          <p:cNvSpPr/>
          <p:nvPr/>
        </p:nvSpPr>
        <p:spPr>
          <a:xfrm>
            <a:off x="457200" y="914400"/>
            <a:ext cx="3749040" cy="2148840"/>
          </a:xfrm>
          <a:prstGeom prst="roundRect">
            <a:avLst>
              <a:gd name="adj" fmla="val 3404"/>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Shape 3"/>
          <p:cNvSpPr/>
          <p:nvPr/>
        </p:nvSpPr>
        <p:spPr>
          <a:xfrm>
            <a:off x="457200" y="3200400"/>
            <a:ext cx="374904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6" name="Shape 4"/>
          <p:cNvSpPr/>
          <p:nvPr/>
        </p:nvSpPr>
        <p:spPr>
          <a:xfrm>
            <a:off x="4343400" y="914400"/>
            <a:ext cx="4343400" cy="3886200"/>
          </a:xfrm>
          <a:prstGeom prst="roundRect">
            <a:avLst>
              <a:gd name="adj" fmla="val 188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7" name="Text 5"/>
          <p:cNvSpPr txBox="1"/>
          <p:nvPr/>
        </p:nvSpPr>
        <p:spPr>
          <a:xfrm>
            <a:off x="457200" y="914400"/>
            <a:ext cx="3749040" cy="2148840"/>
          </a:xfrm>
          <a:prstGeom prst="rect">
            <a:avLst/>
          </a:prstGeom>
          <a:noFill/>
          <a:ln/>
        </p:spPr>
        <p:txBody>
          <a:bodyPr wrap="square" lIns="1524" tIns="1524" rIns="1524" bIns="1524" rtlCol="0" anchor="t"/>
          <a:lstStyle/>
          <a:p>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Problem Statement : Research Agent</a:t>
            </a:r>
            <a:endParaRPr lang="en-US" sz="1200" dirty="0"/>
          </a:p>
          <a:p>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The Challenge</a:t>
            </a:r>
            <a:endParaRPr lang="en-US" sz="1200" dirty="0"/>
          </a:p>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Researchers and students often deal with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scattered research papers, articles, PDFs, notes, and data across multiple sources</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Finding relevant literature, comparing multiple papers, and synthesizing findings takes real effort. Without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systematic gap detection and direction-finding</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identifying research gaps and future directions can be time-consuming and difficult.</a:t>
            </a:r>
            <a:endParaRPr lang="en-US" sz="1200" dirty="0"/>
          </a:p>
        </p:txBody>
      </p:sp>
      <p:sp>
        <p:nvSpPr>
          <p:cNvPr id="8" name="Text 6"/>
          <p:cNvSpPr txBox="1"/>
          <p:nvPr/>
        </p:nvSpPr>
        <p:spPr>
          <a:xfrm>
            <a:off x="457200" y="3200400"/>
            <a:ext cx="3749040" cy="1600200"/>
          </a:xfrm>
          <a:prstGeom prst="rect">
            <a:avLst/>
          </a:prstGeom>
          <a:noFill/>
          <a:ln/>
        </p:spPr>
        <p:txBody>
          <a:bodyPr wrap="square" lIns="1524" tIns="1524" rIns="1524" bIns="1524" rtlCol="0" anchor="t"/>
          <a:lstStyle/>
          <a:p>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The Objective</a:t>
            </a:r>
            <a:endParaRPr lang="en-US" sz="1200" dirty="0"/>
          </a:p>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Build an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AI-powered Research Agent</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that acts as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an intelligent research companion</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for researchers and students. The solution should help users:</a:t>
            </a:r>
            <a:endParaRPr lang="en-US" sz="1200" dirty="0"/>
          </a:p>
        </p:txBody>
      </p:sp>
      <p:sp>
        <p:nvSpPr>
          <p:cNvPr id="9" name="Text 7"/>
          <p:cNvSpPr txBox="1"/>
          <p:nvPr/>
        </p:nvSpPr>
        <p:spPr>
          <a:xfrm>
            <a:off x="4343400" y="914400"/>
            <a:ext cx="4343400" cy="3886200"/>
          </a:xfrm>
          <a:prstGeom prst="rect">
            <a:avLst/>
          </a:prstGeom>
          <a:noFill/>
          <a:ln/>
        </p:spPr>
        <p:txBody>
          <a:bodyPr wrap="square" lIns="1524" tIns="1524" rIns="1524" bIns="1524" rtlCol="0" anchor="t"/>
          <a:lstStyle/>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Research Paper Aggregation</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Collect and organize relevant papers, articles, PDFs, and research materials from multiple sources.</a:t>
            </a:r>
            <a:endParaRPr lang="en-US" sz="1150" dirty="0"/>
          </a:p>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PDF &amp; Multimodal Input</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Work directly with PDFs, notes, charts, and other research material as input.</a:t>
            </a:r>
            <a:endParaRPr lang="en-US" sz="1150" dirty="0"/>
          </a:p>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Literature Synthesis</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Analyze and synthesize findings across multiple research papers into a coherent summary.</a:t>
            </a:r>
            <a:endParaRPr lang="en-US" sz="1150" dirty="0"/>
          </a:p>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Grounded Research Q&amp;A</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Answer questions using information retrieved from the uploaded research documents.</a:t>
            </a:r>
            <a:endParaRPr lang="en-US" sz="1150" dirty="0"/>
          </a:p>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Multi-Agent System</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a:t>
            </a:r>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Paper Comparison Agent</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(compares papers by methods, findings, and datasets)
</a:t>
            </a:r>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Research Gap Agent</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(surfaces emerging trends and unexplored research gaps)
</a:t>
            </a:r>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Research Direction Agent</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(recommends promising future research directions)
</a:t>
            </a:r>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Literature Review Agent</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(drafts structured literature reviews from the paper set)</a:t>
            </a:r>
            <a:endParaRPr lang="en-US" sz="1150" dirty="0"/>
          </a:p>
          <a:p>
            <a:pPr indent="0" marL="0">
              <a:spcAft>
                <a:spcPts val="600"/>
              </a:spcAft>
              <a:buNone/>
            </a:pPr>
            <a:r>
              <a:rPr lang="en-US" sz="1150" b="1" dirty="0">
                <a:solidFill>
                  <a:srgbClr val="1B2A41"/>
                </a:solidFill>
                <a:latin typeface="Calibri" pitchFamily="34" charset="0"/>
                <a:ea typeface="Calibri" pitchFamily="34" charset="-122"/>
                <a:cs typeface="Calibri" pitchFamily="34" charset="-120"/>
              </a:rPr>
              <a:t>Research Visualization</a:t>
            </a:r>
            <a:pPr indent="0" marL="0">
              <a:spcAft>
                <a:spcPts val="600"/>
              </a:spcAft>
              <a:buNone/>
            </a:pPr>
            <a:r>
              <a:rPr lang="en-US" sz="1150" dirty="0">
                <a:solidFill>
                  <a:srgbClr val="1B2A41"/>
                </a:solidFill>
                <a:latin typeface="Calibri" pitchFamily="34" charset="0"/>
                <a:ea typeface="Calibri" pitchFamily="34" charset="-122"/>
                <a:cs typeface="Calibri" pitchFamily="34" charset="-120"/>
              </a:rPr>
              <a:t> – Visualize topic clusters, citation relationships, trends, and knowledge graphs across the paper library.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Proposed Solution -</a:t>
            </a:r>
            <a:endParaRPr lang="en-US" sz="2600" dirty="0"/>
          </a:p>
        </p:txBody>
      </p:sp>
      <p:sp>
        <p:nvSpPr>
          <p:cNvPr id="4" name="Shape 2"/>
          <p:cNvSpPr/>
          <p:nvPr/>
        </p:nvSpPr>
        <p:spPr>
          <a:xfrm>
            <a:off x="457200" y="914400"/>
            <a:ext cx="4160520" cy="2423160"/>
          </a:xfrm>
          <a:prstGeom prst="roundRect">
            <a:avLst>
              <a:gd name="adj" fmla="val 301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Shape 3"/>
          <p:cNvSpPr/>
          <p:nvPr/>
        </p:nvSpPr>
        <p:spPr>
          <a:xfrm>
            <a:off x="4754880" y="914400"/>
            <a:ext cx="3931920" cy="2423160"/>
          </a:xfrm>
          <a:prstGeom prst="roundRect">
            <a:avLst>
              <a:gd name="adj" fmla="val 301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6" name="Shape 4"/>
          <p:cNvSpPr/>
          <p:nvPr/>
        </p:nvSpPr>
        <p:spPr>
          <a:xfrm>
            <a:off x="457200" y="3474720"/>
            <a:ext cx="356616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7" name="Shape 5"/>
          <p:cNvSpPr/>
          <p:nvPr/>
        </p:nvSpPr>
        <p:spPr>
          <a:xfrm>
            <a:off x="4160520" y="3474720"/>
            <a:ext cx="4526280"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8" name="Text 6"/>
          <p:cNvSpPr txBox="1"/>
          <p:nvPr/>
        </p:nvSpPr>
        <p:spPr>
          <a:xfrm>
            <a:off x="457200" y="914400"/>
            <a:ext cx="4160520" cy="2423160"/>
          </a:xfrm>
          <a:prstGeom prst="rect">
            <a:avLst/>
          </a:prstGeom>
          <a:noFill/>
          <a:ln/>
        </p:spPr>
        <p:txBody>
          <a:bodyPr wrap="square" lIns="1524" tIns="1524" rIns="1524" bIns="1524" rtlCol="0" anchor="t"/>
          <a:lstStyle/>
          <a:p>
            <a:pPr indent="0" marL="0">
              <a:spcAft>
                <a:spcPts val="300"/>
              </a:spcAft>
              <a:buNone/>
            </a:pPr>
            <a:r>
              <a:rPr lang="en-US" sz="1000" b="1" dirty="0">
                <a:solidFill>
                  <a:srgbClr val="1B2A41"/>
                </a:solidFill>
                <a:latin typeface="Calibri" pitchFamily="34" charset="0"/>
                <a:ea typeface="Calibri" pitchFamily="34" charset="-122"/>
                <a:cs typeface="Calibri" pitchFamily="34" charset="-120"/>
              </a:rPr>
              <a:t>Proposed Solution: AI-Powered Research Agent</a:t>
            </a:r>
            <a:endParaRPr lang="en-US" sz="1000" dirty="0"/>
          </a:p>
          <a:p>
            <a:pPr indent="0" marL="0">
              <a:spcAft>
                <a:spcPts val="300"/>
              </a:spcAft>
              <a:buNone/>
            </a:pPr>
            <a:r>
              <a:rPr lang="en-US" sz="1000" dirty="0">
                <a:solidFill>
                  <a:srgbClr val="1B2A41"/>
                </a:solidFill>
                <a:latin typeface="Calibri" pitchFamily="34" charset="0"/>
                <a:ea typeface="Calibri" pitchFamily="34" charset="-122"/>
                <a:cs typeface="Calibri" pitchFamily="34" charset="-120"/>
              </a:rPr>
              <a:t>The proposed solution is a </a:t>
            </a:r>
            <a:pPr indent="0" marL="0">
              <a:spcAft>
                <a:spcPts val="300"/>
              </a:spcAft>
              <a:buNone/>
            </a:pPr>
            <a:r>
              <a:rPr lang="en-US" sz="1000" b="1" dirty="0">
                <a:solidFill>
                  <a:srgbClr val="1B2A41"/>
                </a:solidFill>
                <a:latin typeface="Calibri" pitchFamily="34" charset="0"/>
                <a:ea typeface="Calibri" pitchFamily="34" charset="-122"/>
                <a:cs typeface="Calibri" pitchFamily="34" charset="-120"/>
              </a:rPr>
              <a:t>multi-agent AI-powered Research Agent</a:t>
            </a:r>
            <a:pPr indent="0" marL="0">
              <a:spcAft>
                <a:spcPts val="300"/>
              </a:spcAft>
              <a:buNone/>
            </a:pPr>
            <a:r>
              <a:rPr lang="en-US" sz="1000" dirty="0">
                <a:solidFill>
                  <a:srgbClr val="1B2A41"/>
                </a:solidFill>
                <a:latin typeface="Calibri" pitchFamily="34" charset="0"/>
                <a:ea typeface="Calibri" pitchFamily="34" charset="-122"/>
                <a:cs typeface="Calibri" pitchFamily="34" charset="-120"/>
              </a:rPr>
              <a:t> built using </a:t>
            </a:r>
            <a:pPr indent="0" marL="0">
              <a:spcAft>
                <a:spcPts val="300"/>
              </a:spcAft>
              <a:buNone/>
            </a:pPr>
            <a:r>
              <a:rPr lang="en-US" sz="1000" b="1" dirty="0">
                <a:solidFill>
                  <a:srgbClr val="1B2A41"/>
                </a:solidFill>
                <a:latin typeface="Calibri" pitchFamily="34" charset="0"/>
                <a:ea typeface="Calibri" pitchFamily="34" charset="-122"/>
                <a:cs typeface="Calibri" pitchFamily="34" charset="-120"/>
              </a:rPr>
              <a:t>IBM Bob for orchestration, with an optional IBM watsonx.ai + Granite backend</a:t>
            </a:r>
            <a:pPr indent="0" marL="0">
              <a:spcAft>
                <a:spcPts val="300"/>
              </a:spcAft>
              <a:buNone/>
            </a:pPr>
            <a:r>
              <a:rPr lang="en-US" sz="1000" dirty="0">
                <a:solidFill>
                  <a:srgbClr val="1B2A41"/>
                </a:solidFill>
                <a:latin typeface="Calibri" pitchFamily="34" charset="0"/>
                <a:ea typeface="Calibri" pitchFamily="34" charset="-122"/>
                <a:cs typeface="Calibri" pitchFamily="34" charset="-120"/>
              </a:rPr>
              <a:t> to help researchers and students work through scattered literature. The system addresses challenges in paper aggregation, synthesis, comparison, and gap discovery through an intelligent, modular architecture. Granite is not connected in the current build, so the agent runs in a fully-functional local Demo Mode by default.</a:t>
            </a:r>
            <a:endParaRPr lang="en-US" sz="1000" dirty="0"/>
          </a:p>
          <a:p>
            <a:pPr indent="0" marL="0">
              <a:spcAft>
                <a:spcPts val="300"/>
              </a:spcAft>
              <a:buNone/>
            </a:pPr>
            <a:r>
              <a:rPr lang="en-US" sz="1000" dirty="0">
                <a:solidFill>
                  <a:srgbClr val="1B2A41"/>
                </a:solidFill>
                <a:latin typeface="Calibri" pitchFamily="34" charset="0"/>
                <a:ea typeface="Calibri" pitchFamily="34" charset="-122"/>
                <a:cs typeface="Calibri" pitchFamily="34" charset="-120"/>
              </a:rPr>
              <a:t>At its core, the solution uses a </a:t>
            </a:r>
            <a:pPr indent="0" marL="0">
              <a:spcAft>
                <a:spcPts val="300"/>
              </a:spcAft>
              <a:buNone/>
            </a:pPr>
            <a:r>
              <a:rPr lang="en-US" sz="1000" b="1" dirty="0">
                <a:solidFill>
                  <a:srgbClr val="1B2A41"/>
                </a:solidFill>
                <a:latin typeface="Calibri" pitchFamily="34" charset="0"/>
                <a:ea typeface="Calibri" pitchFamily="34" charset="-122"/>
                <a:cs typeface="Calibri" pitchFamily="34" charset="-120"/>
              </a:rPr>
              <a:t>Retrieval-Augmented Generation (RAG)</a:t>
            </a:r>
            <a:pPr indent="0" marL="0">
              <a:spcAft>
                <a:spcPts val="300"/>
              </a:spcAft>
              <a:buNone/>
            </a:pPr>
            <a:r>
              <a:rPr lang="en-US" sz="1000" dirty="0">
                <a:solidFill>
                  <a:srgbClr val="1B2A41"/>
                </a:solidFill>
                <a:latin typeface="Calibri" pitchFamily="34" charset="0"/>
                <a:ea typeface="Calibri" pitchFamily="34" charset="-122"/>
                <a:cs typeface="Calibri" pitchFamily="34" charset="-120"/>
              </a:rPr>
              <a:t> pipeline that extracts text from uploaded PDFs with PyMuPDF, chunks it, and embeds it with a sentence-transformers model. The embeddings are stored in a FAISS vector index (with a TF-IDF fallback), enabling the system to retrieve the most relevant passages and ground every answer in the source papers.</a:t>
            </a:r>
            <a:endParaRPr lang="en-US" sz="1000" dirty="0"/>
          </a:p>
        </p:txBody>
      </p:sp>
      <p:sp>
        <p:nvSpPr>
          <p:cNvPr id="9" name="Text 7"/>
          <p:cNvSpPr txBox="1"/>
          <p:nvPr/>
        </p:nvSpPr>
        <p:spPr>
          <a:xfrm>
            <a:off x="4754880" y="914400"/>
            <a:ext cx="3931920" cy="2423160"/>
          </a:xfrm>
          <a:prstGeom prst="rect">
            <a:avLst/>
          </a:prstGeom>
          <a:noFill/>
          <a:ln/>
        </p:spPr>
        <p:txBody>
          <a:bodyPr wrap="square" lIns="1524" tIns="1524" rIns="1524" bIns="1524" rtlCol="0" anchor="t"/>
          <a:lstStyle/>
          <a:p>
            <a:pPr indent="0" marL="0">
              <a:spcAft>
                <a:spcPts val="400"/>
              </a:spcAft>
              <a:buNone/>
            </a:pPr>
            <a:r>
              <a:rPr lang="en-US" sz="1050" dirty="0">
                <a:solidFill>
                  <a:srgbClr val="1B2A41"/>
                </a:solidFill>
                <a:latin typeface="Calibri" pitchFamily="34" charset="0"/>
                <a:ea typeface="Calibri" pitchFamily="34" charset="-122"/>
                <a:cs typeface="Calibri" pitchFamily="34" charset="-120"/>
              </a:rPr>
              <a:t>The system consists of six key agents:</a:t>
            </a:r>
            <a:endParaRPr lang="en-US" sz="1050" dirty="0"/>
          </a:p>
          <a:p>
            <a:pPr indent="0" marL="0">
              <a:spcAft>
                <a:spcPts val="400"/>
              </a:spcAft>
              <a:buNone/>
            </a:pPr>
            <a:r>
              <a:rPr lang="en-US" sz="1050" b="1" dirty="0">
                <a:solidFill>
                  <a:srgbClr val="1B2A41"/>
                </a:solidFill>
                <a:latin typeface="Calibri" pitchFamily="34" charset="0"/>
                <a:ea typeface="Calibri" pitchFamily="34" charset="-122"/>
                <a:cs typeface="Calibri" pitchFamily="34" charset="-120"/>
              </a:rPr>
              <a:t>Paper Analysis Agent</a:t>
            </a:r>
            <a:pPr indent="0" marL="0">
              <a:spcAft>
                <a:spcPts val="400"/>
              </a:spcAft>
              <a:buNone/>
            </a:pPr>
            <a:r>
              <a:rPr lang="en-US" sz="1050" dirty="0">
                <a:solidFill>
                  <a:srgbClr val="1B2A41"/>
                </a:solidFill>
                <a:latin typeface="Calibri" pitchFamily="34" charset="0"/>
                <a:ea typeface="Calibri" pitchFamily="34" charset="-122"/>
                <a:cs typeface="Calibri" pitchFamily="34" charset="-120"/>
              </a:rPr>
              <a:t> extracts metadata, topics, methods, and datasets from every uploaded paper.</a:t>
            </a:r>
            <a:endParaRPr lang="en-US" sz="1050" dirty="0"/>
          </a:p>
          <a:p>
            <a:pPr indent="0" marL="0">
              <a:spcAft>
                <a:spcPts val="400"/>
              </a:spcAft>
              <a:buNone/>
            </a:pPr>
            <a:r>
              <a:rPr lang="en-US" sz="1050" b="1" dirty="0">
                <a:solidFill>
                  <a:srgbClr val="1B2A41"/>
                </a:solidFill>
                <a:latin typeface="Calibri" pitchFamily="34" charset="0"/>
                <a:ea typeface="Calibri" pitchFamily="34" charset="-122"/>
                <a:cs typeface="Calibri" pitchFamily="34" charset="-120"/>
              </a:rPr>
              <a:t>Research RAG Agent</a:t>
            </a:r>
            <a:pPr indent="0" marL="0">
              <a:spcAft>
                <a:spcPts val="400"/>
              </a:spcAft>
              <a:buNone/>
            </a:pPr>
            <a:r>
              <a:rPr lang="en-US" sz="1050" dirty="0">
                <a:solidFill>
                  <a:srgbClr val="1B2A41"/>
                </a:solidFill>
                <a:latin typeface="Calibri" pitchFamily="34" charset="0"/>
                <a:ea typeface="Calibri" pitchFamily="34" charset="-122"/>
                <a:cs typeface="Calibri" pitchFamily="34" charset="-120"/>
              </a:rPr>
              <a:t> retrieves the relevant evidence and generates grounded, cited answers to research questions.</a:t>
            </a:r>
            <a:endParaRPr lang="en-US" sz="1050" dirty="0"/>
          </a:p>
          <a:p>
            <a:pPr indent="0" marL="0">
              <a:spcAft>
                <a:spcPts val="400"/>
              </a:spcAft>
              <a:buNone/>
            </a:pPr>
            <a:r>
              <a:rPr lang="en-US" sz="1050" b="1" dirty="0">
                <a:solidFill>
                  <a:srgbClr val="1B2A41"/>
                </a:solidFill>
                <a:latin typeface="Calibri" pitchFamily="34" charset="0"/>
                <a:ea typeface="Calibri" pitchFamily="34" charset="-122"/>
                <a:cs typeface="Calibri" pitchFamily="34" charset="-120"/>
              </a:rPr>
              <a:t>Paper Comparison Agent</a:t>
            </a:r>
            <a:pPr indent="0" marL="0">
              <a:spcAft>
                <a:spcPts val="400"/>
              </a:spcAft>
              <a:buNone/>
            </a:pPr>
            <a:r>
              <a:rPr lang="en-US" sz="1050" dirty="0">
                <a:solidFill>
                  <a:srgbClr val="1B2A41"/>
                </a:solidFill>
                <a:latin typeface="Calibri" pitchFamily="34" charset="0"/>
                <a:ea typeface="Calibri" pitchFamily="34" charset="-122"/>
                <a:cs typeface="Calibri" pitchFamily="34" charset="-120"/>
              </a:rPr>
              <a:t> produces a structured, side-by-side comparison of papers by methods, findings, and datasets.</a:t>
            </a:r>
            <a:endParaRPr lang="en-US" sz="1050" dirty="0"/>
          </a:p>
          <a:p>
            <a:pPr indent="0" marL="0">
              <a:spcAft>
                <a:spcPts val="400"/>
              </a:spcAft>
              <a:buNone/>
            </a:pPr>
            <a:r>
              <a:rPr lang="en-US" sz="1050" b="1" dirty="0">
                <a:solidFill>
                  <a:srgbClr val="1B2A41"/>
                </a:solidFill>
                <a:latin typeface="Calibri" pitchFamily="34" charset="0"/>
                <a:ea typeface="Calibri" pitchFamily="34" charset="-122"/>
                <a:cs typeface="Calibri" pitchFamily="34" charset="-120"/>
              </a:rPr>
              <a:t>Research Gap &amp; Direction Agent</a:t>
            </a:r>
            <a:pPr indent="0" marL="0">
              <a:spcAft>
                <a:spcPts val="400"/>
              </a:spcAft>
              <a:buNone/>
            </a:pPr>
            <a:r>
              <a:rPr lang="en-US" sz="1050" dirty="0">
                <a:solidFill>
                  <a:srgbClr val="1B2A41"/>
                </a:solidFill>
                <a:latin typeface="Calibri" pitchFamily="34" charset="0"/>
                <a:ea typeface="Calibri" pitchFamily="34" charset="-122"/>
                <a:cs typeface="Calibri" pitchFamily="34" charset="-120"/>
              </a:rPr>
              <a:t> highlights unexplored areas and limitations, and suggests promising future research directions.</a:t>
            </a:r>
            <a:endParaRPr lang="en-US" sz="1050" dirty="0"/>
          </a:p>
        </p:txBody>
      </p:sp>
      <p:sp>
        <p:nvSpPr>
          <p:cNvPr id="10" name="Text 8"/>
          <p:cNvSpPr txBox="1"/>
          <p:nvPr/>
        </p:nvSpPr>
        <p:spPr>
          <a:xfrm>
            <a:off x="457200" y="3474720"/>
            <a:ext cx="3566160" cy="1371600"/>
          </a:xfrm>
          <a:prstGeom prst="rect">
            <a:avLst/>
          </a:prstGeom>
          <a:noFill/>
          <a:ln/>
        </p:spPr>
        <p:txBody>
          <a:bodyPr wrap="square" lIns="1524" tIns="1524" rIns="1524" bIns="1524" rtlCol="0" anchor="ctr"/>
          <a:lstStyle/>
          <a:p>
            <a:pPr indent="0" marL="0">
              <a:spcAft>
                <a:spcPts val="500"/>
              </a:spcAft>
              <a:buNone/>
            </a:pPr>
            <a:r>
              <a:rPr lang="en-US" sz="1000" dirty="0">
                <a:solidFill>
                  <a:srgbClr val="1B2A41"/>
                </a:solidFill>
                <a:latin typeface="Calibri" pitchFamily="34" charset="0"/>
                <a:ea typeface="Calibri" pitchFamily="34" charset="-122"/>
                <a:cs typeface="Calibri" pitchFamily="34" charset="-120"/>
              </a:rPr>
              <a:t>A sixth, the </a:t>
            </a:r>
            <a:pPr indent="0" marL="0">
              <a:spcAft>
                <a:spcPts val="500"/>
              </a:spcAft>
              <a:buNone/>
            </a:pPr>
            <a:r>
              <a:rPr lang="en-US" sz="1000" b="1" dirty="0">
                <a:solidFill>
                  <a:srgbClr val="1B2A41"/>
                </a:solidFill>
                <a:latin typeface="Calibri" pitchFamily="34" charset="0"/>
                <a:ea typeface="Calibri" pitchFamily="34" charset="-122"/>
                <a:cs typeface="Calibri" pitchFamily="34" charset="-120"/>
              </a:rPr>
              <a:t>Literature Review Agent</a:t>
            </a:r>
            <a:pPr indent="0" marL="0">
              <a:spcAft>
                <a:spcPts val="500"/>
              </a:spcAft>
              <a:buNone/>
            </a:pPr>
            <a:r>
              <a:rPr lang="en-US" sz="1000" dirty="0">
                <a:solidFill>
                  <a:srgbClr val="1B2A41"/>
                </a:solidFill>
                <a:latin typeface="Calibri" pitchFamily="34" charset="0"/>
                <a:ea typeface="Calibri" pitchFamily="34" charset="-122"/>
                <a:cs typeface="Calibri" pitchFamily="34" charset="-120"/>
              </a:rPr>
              <a:t>, drafts a structured literature review section by section. The solution also includes a </a:t>
            </a:r>
            <a:pPr indent="0" marL="0">
              <a:spcAft>
                <a:spcPts val="500"/>
              </a:spcAft>
              <a:buNone/>
            </a:pPr>
            <a:r>
              <a:rPr lang="en-US" sz="1000" b="1" dirty="0">
                <a:solidFill>
                  <a:srgbClr val="1B2A41"/>
                </a:solidFill>
                <a:latin typeface="Calibri" pitchFamily="34" charset="0"/>
                <a:ea typeface="Calibri" pitchFamily="34" charset="-122"/>
                <a:cs typeface="Calibri" pitchFamily="34" charset="-120"/>
              </a:rPr>
              <a:t>user-friendly dashboard</a:t>
            </a:r>
            <a:pPr indent="0" marL="0">
              <a:spcAft>
                <a:spcPts val="500"/>
              </a:spcAft>
              <a:buNone/>
            </a:pPr>
            <a:r>
              <a:rPr lang="en-US" sz="1000" dirty="0">
                <a:solidFill>
                  <a:srgbClr val="1B2A41"/>
                </a:solidFill>
                <a:latin typeface="Calibri" pitchFamily="34" charset="0"/>
                <a:ea typeface="Calibri" pitchFamily="34" charset="-122"/>
                <a:cs typeface="Calibri" pitchFamily="34" charset="-120"/>
              </a:rPr>
              <a:t> (built with Flask and vanilla JS) that visualizes the paper library, chat interface, comparisons, gaps, and the research landscape map.</a:t>
            </a:r>
            <a:endParaRPr lang="en-US" sz="1000" dirty="0"/>
          </a:p>
        </p:txBody>
      </p:sp>
      <p:sp>
        <p:nvSpPr>
          <p:cNvPr id="11" name="Text 9"/>
          <p:cNvSpPr txBox="1"/>
          <p:nvPr/>
        </p:nvSpPr>
        <p:spPr>
          <a:xfrm>
            <a:off x="4160520" y="3474720"/>
            <a:ext cx="4526280" cy="1371600"/>
          </a:xfrm>
          <a:prstGeom prst="rect">
            <a:avLst/>
          </a:prstGeom>
          <a:noFill/>
          <a:ln/>
        </p:spPr>
        <p:txBody>
          <a:bodyPr wrap="square" lIns="1524" tIns="1524" rIns="1524" bIns="1524" rtlCol="0" anchor="ctr"/>
          <a:lstStyle/>
          <a:p>
            <a:pPr indent="0" marL="0">
              <a:spcAft>
                <a:spcPts val="400"/>
              </a:spcAft>
              <a:buNone/>
            </a:pPr>
            <a:r>
              <a:rPr lang="en-US" sz="1000" dirty="0">
                <a:solidFill>
                  <a:srgbClr val="1B2A41"/>
                </a:solidFill>
                <a:latin typeface="Calibri" pitchFamily="34" charset="0"/>
                <a:ea typeface="Calibri" pitchFamily="34" charset="-122"/>
                <a:cs typeface="Calibri" pitchFamily="34" charset="-120"/>
              </a:rPr>
              <a:t>IBM Bob is used to orchestrate the agent workflow end to end. Where watsonx.ai/Granite credentials are available, Granite powers the reasoning and generation steps; otherwise every agent falls back to deterministic, fully offline logic so the app stays usable without any cloud credentials.</a:t>
            </a:r>
            <a:endParaRPr lang="en-US" sz="1000" dirty="0"/>
          </a:p>
          <a:p>
            <a:pPr indent="0" marL="0">
              <a:spcAft>
                <a:spcPts val="400"/>
              </a:spcAft>
              <a:buNone/>
            </a:pPr>
            <a:r>
              <a:rPr lang="en-US" sz="1000" dirty="0">
                <a:solidFill>
                  <a:srgbClr val="1B2A41"/>
                </a:solidFill>
                <a:latin typeface="Calibri" pitchFamily="34" charset="0"/>
                <a:ea typeface="Calibri" pitchFamily="34" charset="-122"/>
                <a:cs typeface="Calibri" pitchFamily="34" charset="-120"/>
              </a:rPr>
              <a:t>Overall, this solution delivers an </a:t>
            </a:r>
            <a:pPr indent="0" marL="0">
              <a:spcAft>
                <a:spcPts val="400"/>
              </a:spcAft>
              <a:buNone/>
            </a:pPr>
            <a:r>
              <a:rPr lang="en-US" sz="1000" b="1" dirty="0">
                <a:solidFill>
                  <a:srgbClr val="1B2A41"/>
                </a:solidFill>
                <a:latin typeface="Calibri" pitchFamily="34" charset="0"/>
                <a:ea typeface="Calibri" pitchFamily="34" charset="-122"/>
                <a:cs typeface="Calibri" pitchFamily="34" charset="-120"/>
              </a:rPr>
              <a:t>end-to-end intelligent research assistant</a:t>
            </a:r>
            <a:pPr indent="0" marL="0">
              <a:spcAft>
                <a:spcPts val="400"/>
              </a:spcAft>
              <a:buNone/>
            </a:pPr>
            <a:r>
              <a:rPr lang="en-US" sz="1000" dirty="0">
                <a:solidFill>
                  <a:srgbClr val="1B2A41"/>
                </a:solidFill>
                <a:latin typeface="Calibri" pitchFamily="34" charset="0"/>
                <a:ea typeface="Calibri" pitchFamily="34" charset="-122"/>
                <a:cs typeface="Calibri" pitchFamily="34" charset="-120"/>
              </a:rPr>
              <a:t> that turns a scattered pile of papers into organized, grounded, and comparable knowledge.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Technology Used</a:t>
            </a:r>
            <a:endParaRPr lang="en-US" sz="2600" dirty="0"/>
          </a:p>
        </p:txBody>
      </p:sp>
      <p:sp>
        <p:nvSpPr>
          <p:cNvPr id="4" name="Shape 2"/>
          <p:cNvSpPr/>
          <p:nvPr/>
        </p:nvSpPr>
        <p:spPr>
          <a:xfrm>
            <a:off x="457200" y="96012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Shape 3"/>
          <p:cNvSpPr/>
          <p:nvPr/>
        </p:nvSpPr>
        <p:spPr>
          <a:xfrm>
            <a:off x="594360" y="1097280"/>
            <a:ext cx="310896" cy="310896"/>
          </a:xfrm>
          <a:prstGeom prst="ellipse">
            <a:avLst/>
          </a:prstGeom>
          <a:solidFill>
            <a:srgbClr val="0F62FE"/>
          </a:solidFill>
          <a:ln w="12700">
            <a:solidFill>
              <a:srgbClr val="0F62FE"/>
            </a:solidFill>
            <a:prstDash val="solid"/>
          </a:ln>
        </p:spPr>
      </p:sp>
      <p:sp>
        <p:nvSpPr>
          <p:cNvPr id="6" name="Text 4"/>
          <p:cNvSpPr txBox="1"/>
          <p:nvPr/>
        </p:nvSpPr>
        <p:spPr>
          <a:xfrm>
            <a:off x="594360" y="10972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87552" y="107899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IBM Bob platform</a:t>
            </a:r>
            <a:endParaRPr lang="en-US" sz="1300" dirty="0"/>
          </a:p>
        </p:txBody>
      </p:sp>
      <p:sp>
        <p:nvSpPr>
          <p:cNvPr id="8" name="Text 6"/>
          <p:cNvSpPr txBox="1"/>
          <p:nvPr/>
        </p:nvSpPr>
        <p:spPr>
          <a:xfrm>
            <a:off x="484632" y="150876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For designing and orchestrating the multi-agent research workflow visually</a:t>
            </a:r>
            <a:endParaRPr lang="en-US" sz="1200" dirty="0"/>
          </a:p>
        </p:txBody>
      </p:sp>
      <p:sp>
        <p:nvSpPr>
          <p:cNvPr id="9" name="Shape 7"/>
          <p:cNvSpPr/>
          <p:nvPr/>
        </p:nvSpPr>
        <p:spPr>
          <a:xfrm>
            <a:off x="3291840" y="96012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0" name="Shape 8"/>
          <p:cNvSpPr/>
          <p:nvPr/>
        </p:nvSpPr>
        <p:spPr>
          <a:xfrm>
            <a:off x="3429000" y="1097280"/>
            <a:ext cx="310896" cy="310896"/>
          </a:xfrm>
          <a:prstGeom prst="ellipse">
            <a:avLst/>
          </a:prstGeom>
          <a:solidFill>
            <a:srgbClr val="0F62FE"/>
          </a:solidFill>
          <a:ln w="12700">
            <a:solidFill>
              <a:srgbClr val="0F62FE"/>
            </a:solidFill>
            <a:prstDash val="solid"/>
          </a:ln>
        </p:spPr>
      </p:sp>
      <p:sp>
        <p:nvSpPr>
          <p:cNvPr id="11" name="Text 9"/>
          <p:cNvSpPr txBox="1"/>
          <p:nvPr/>
        </p:nvSpPr>
        <p:spPr>
          <a:xfrm>
            <a:off x="3429000" y="10972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3822192" y="107899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IBM Granite model</a:t>
            </a:r>
            <a:endParaRPr lang="en-US" sz="1300" dirty="0"/>
          </a:p>
        </p:txBody>
      </p:sp>
      <p:sp>
        <p:nvSpPr>
          <p:cNvPr id="13" name="Text 11"/>
          <p:cNvSpPr txBox="1"/>
          <p:nvPr/>
        </p:nvSpPr>
        <p:spPr>
          <a:xfrm>
            <a:off x="3319272" y="150876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for eg – ibm-granite-3-2-8b – for summarization, comparison, and Q&amp;A reasoning (not connected in this build; app runs in local Demo Mode)</a:t>
            </a:r>
            <a:endParaRPr lang="en-US" sz="1200" dirty="0"/>
          </a:p>
        </p:txBody>
      </p:sp>
      <p:sp>
        <p:nvSpPr>
          <p:cNvPr id="14" name="Shape 12"/>
          <p:cNvSpPr/>
          <p:nvPr/>
        </p:nvSpPr>
        <p:spPr>
          <a:xfrm>
            <a:off x="6126480" y="96012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5" name="Shape 13"/>
          <p:cNvSpPr/>
          <p:nvPr/>
        </p:nvSpPr>
        <p:spPr>
          <a:xfrm>
            <a:off x="6263640" y="1097280"/>
            <a:ext cx="310896" cy="310896"/>
          </a:xfrm>
          <a:prstGeom prst="ellipse">
            <a:avLst/>
          </a:prstGeom>
          <a:solidFill>
            <a:srgbClr val="0F62FE"/>
          </a:solidFill>
          <a:ln w="12700">
            <a:solidFill>
              <a:srgbClr val="0F62FE"/>
            </a:solidFill>
            <a:prstDash val="solid"/>
          </a:ln>
        </p:spPr>
      </p:sp>
      <p:sp>
        <p:nvSpPr>
          <p:cNvPr id="16" name="Text 14"/>
          <p:cNvSpPr txBox="1"/>
          <p:nvPr/>
        </p:nvSpPr>
        <p:spPr>
          <a:xfrm>
            <a:off x="6263640" y="10972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6656832" y="107899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IBM Cloud</a:t>
            </a:r>
            <a:endParaRPr lang="en-US" sz="1300" dirty="0"/>
          </a:p>
        </p:txBody>
      </p:sp>
      <p:sp>
        <p:nvSpPr>
          <p:cNvPr id="18" name="Text 16"/>
          <p:cNvSpPr txBox="1"/>
          <p:nvPr/>
        </p:nvSpPr>
        <p:spPr>
          <a:xfrm>
            <a:off x="6153912" y="150876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Provides the infrastructure to build, deploy, and scale the Research Agent efficiently. IBM Cloud enables a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reliable, secure, and scalable environment</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for deploying the Research Agent.</a:t>
            </a:r>
            <a:endParaRPr lang="en-US" sz="1200" dirty="0"/>
          </a:p>
        </p:txBody>
      </p:sp>
      <p:sp>
        <p:nvSpPr>
          <p:cNvPr id="19" name="Shape 17"/>
          <p:cNvSpPr/>
          <p:nvPr/>
        </p:nvSpPr>
        <p:spPr>
          <a:xfrm>
            <a:off x="457200" y="292608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20" name="Shape 18"/>
          <p:cNvSpPr/>
          <p:nvPr/>
        </p:nvSpPr>
        <p:spPr>
          <a:xfrm>
            <a:off x="594360" y="3063240"/>
            <a:ext cx="310896" cy="310896"/>
          </a:xfrm>
          <a:prstGeom prst="ellipse">
            <a:avLst/>
          </a:prstGeom>
          <a:solidFill>
            <a:srgbClr val="0F62FE"/>
          </a:solidFill>
          <a:ln w="12700">
            <a:solidFill>
              <a:srgbClr val="0F62FE"/>
            </a:solidFill>
            <a:prstDash val="solid"/>
          </a:ln>
        </p:spPr>
      </p:sp>
      <p:sp>
        <p:nvSpPr>
          <p:cNvPr id="21" name="Text 19"/>
          <p:cNvSpPr txBox="1"/>
          <p:nvPr/>
        </p:nvSpPr>
        <p:spPr>
          <a:xfrm>
            <a:off x="594360" y="3063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987552" y="304495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RAG</a:t>
            </a:r>
            <a:endParaRPr lang="en-US" sz="1300" dirty="0"/>
          </a:p>
        </p:txBody>
      </p:sp>
      <p:sp>
        <p:nvSpPr>
          <p:cNvPr id="23" name="Text 21"/>
          <p:cNvSpPr txBox="1"/>
          <p:nvPr/>
        </p:nvSpPr>
        <p:spPr>
          <a:xfrm>
            <a:off x="484632" y="347472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RAG to </a:t>
            </a:r>
            <a:pPr indent="0" marL="0">
              <a:spcAft>
                <a:spcPts val="500"/>
              </a:spcAft>
              <a:buNone/>
            </a:pPr>
            <a:r>
              <a:rPr lang="en-US" sz="1200" b="1" dirty="0">
                <a:solidFill>
                  <a:srgbClr val="1B2A41"/>
                </a:solidFill>
                <a:latin typeface="Calibri" pitchFamily="34" charset="0"/>
                <a:ea typeface="Calibri" pitchFamily="34" charset="-122"/>
                <a:cs typeface="Calibri" pitchFamily="34" charset="-120"/>
              </a:rPr>
              <a:t>fetch real evidence from the uploaded papers first, then generate grounded answers</a:t>
            </a:r>
            <a:pPr indent="0" marL="0">
              <a:spcAft>
                <a:spcPts val="500"/>
              </a:spcAft>
              <a:buNone/>
            </a:pPr>
            <a:r>
              <a:rPr lang="en-US" sz="1200" dirty="0">
                <a:solidFill>
                  <a:srgbClr val="1B2A41"/>
                </a:solidFill>
                <a:latin typeface="Calibri" pitchFamily="34" charset="0"/>
                <a:ea typeface="Calibri" pitchFamily="34" charset="-122"/>
                <a:cs typeface="Calibri" pitchFamily="34" charset="-120"/>
              </a:rPr>
              <a:t>, making the Research Agent’s answers traceable and trustworthy.</a:t>
            </a:r>
            <a:endParaRPr lang="en-US" sz="1200" dirty="0"/>
          </a:p>
        </p:txBody>
      </p:sp>
      <p:sp>
        <p:nvSpPr>
          <p:cNvPr id="24" name="Shape 22"/>
          <p:cNvSpPr/>
          <p:nvPr/>
        </p:nvSpPr>
        <p:spPr>
          <a:xfrm>
            <a:off x="3291840" y="292608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25" name="Shape 23"/>
          <p:cNvSpPr/>
          <p:nvPr/>
        </p:nvSpPr>
        <p:spPr>
          <a:xfrm>
            <a:off x="3429000" y="3063240"/>
            <a:ext cx="310896" cy="310896"/>
          </a:xfrm>
          <a:prstGeom prst="ellipse">
            <a:avLst/>
          </a:prstGeom>
          <a:solidFill>
            <a:srgbClr val="0F62FE"/>
          </a:solidFill>
          <a:ln w="12700">
            <a:solidFill>
              <a:srgbClr val="0F62FE"/>
            </a:solidFill>
            <a:prstDash val="solid"/>
          </a:ln>
        </p:spPr>
      </p:sp>
      <p:sp>
        <p:nvSpPr>
          <p:cNvPr id="26" name="Text 24"/>
          <p:cNvSpPr txBox="1"/>
          <p:nvPr/>
        </p:nvSpPr>
        <p:spPr>
          <a:xfrm>
            <a:off x="3429000" y="3063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3822192" y="304495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IBM Watsonx.ai</a:t>
            </a:r>
            <a:endParaRPr lang="en-US" sz="1300" dirty="0"/>
          </a:p>
        </p:txBody>
      </p:sp>
      <p:sp>
        <p:nvSpPr>
          <p:cNvPr id="28" name="Text 26"/>
          <p:cNvSpPr txBox="1"/>
          <p:nvPr/>
        </p:nvSpPr>
        <p:spPr>
          <a:xfrm>
            <a:off x="3319272" y="347472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For optional model deployment, embeddings, and AI governance (not connected in this build)</a:t>
            </a:r>
            <a:endParaRPr lang="en-US" sz="1200" dirty="0"/>
          </a:p>
        </p:txBody>
      </p:sp>
      <p:sp>
        <p:nvSpPr>
          <p:cNvPr id="29" name="Shape 27"/>
          <p:cNvSpPr/>
          <p:nvPr/>
        </p:nvSpPr>
        <p:spPr>
          <a:xfrm>
            <a:off x="6126480" y="2926080"/>
            <a:ext cx="2651760"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30" name="Shape 28"/>
          <p:cNvSpPr/>
          <p:nvPr/>
        </p:nvSpPr>
        <p:spPr>
          <a:xfrm>
            <a:off x="6263640" y="3063240"/>
            <a:ext cx="310896" cy="310896"/>
          </a:xfrm>
          <a:prstGeom prst="ellipse">
            <a:avLst/>
          </a:prstGeom>
          <a:solidFill>
            <a:srgbClr val="0F62FE"/>
          </a:solidFill>
          <a:ln w="12700">
            <a:solidFill>
              <a:srgbClr val="0F62FE"/>
            </a:solidFill>
            <a:prstDash val="solid"/>
          </a:ln>
        </p:spPr>
      </p:sp>
      <p:sp>
        <p:nvSpPr>
          <p:cNvPr id="31" name="Text 29"/>
          <p:cNvSpPr txBox="1"/>
          <p:nvPr/>
        </p:nvSpPr>
        <p:spPr>
          <a:xfrm>
            <a:off x="6263640" y="3063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6656832" y="3044952"/>
            <a:ext cx="205740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Vector Database</a:t>
            </a:r>
            <a:endParaRPr lang="en-US" sz="1300" dirty="0"/>
          </a:p>
        </p:txBody>
      </p:sp>
      <p:sp>
        <p:nvSpPr>
          <p:cNvPr id="33" name="Text 31"/>
          <p:cNvSpPr txBox="1"/>
          <p:nvPr/>
        </p:nvSpPr>
        <p:spPr>
          <a:xfrm>
            <a:off x="6153912" y="3474720"/>
            <a:ext cx="2596896" cy="1234440"/>
          </a:xfrm>
          <a:prstGeom prst="rect">
            <a:avLst/>
          </a:prstGeom>
          <a:noFill/>
          <a:ln/>
        </p:spPr>
        <p:txBody>
          <a:bodyPr wrap="square" lIns="1524" tIns="1524" rIns="1524" bIns="1524" rtlCol="0" anchor="t"/>
          <a:lstStyle/>
          <a:p>
            <a:pPr indent="0" marL="0">
              <a:spcAft>
                <a:spcPts val="500"/>
              </a:spcAft>
              <a:buNone/>
            </a:pPr>
            <a:r>
              <a:rPr lang="en-US" sz="1200" dirty="0">
                <a:solidFill>
                  <a:srgbClr val="1B2A41"/>
                </a:solidFill>
                <a:latin typeface="Calibri" pitchFamily="34" charset="0"/>
                <a:ea typeface="Calibri" pitchFamily="34" charset="-122"/>
                <a:cs typeface="Calibri" pitchFamily="34" charset="-120"/>
              </a:rPr>
              <a:t>(FAISS, with a TF-IDF fallback) – For RAG-based retrieval over paper chunks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Required Files in the Research Agent (ResearchPilot AI) project -</a:t>
            </a:r>
            <a:endParaRPr lang="en-US" sz="2000" dirty="0"/>
          </a:p>
        </p:txBody>
      </p:sp>
      <p:sp>
        <p:nvSpPr>
          <p:cNvPr id="4" name="Shape 2"/>
          <p:cNvSpPr/>
          <p:nvPr/>
        </p:nvSpPr>
        <p:spPr>
          <a:xfrm>
            <a:off x="457200" y="1005840"/>
            <a:ext cx="822960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Shape 3"/>
          <p:cNvSpPr/>
          <p:nvPr/>
        </p:nvSpPr>
        <p:spPr>
          <a:xfrm>
            <a:off x="640080" y="1133856"/>
            <a:ext cx="384048" cy="384048"/>
          </a:xfrm>
          <a:prstGeom prst="ellipse">
            <a:avLst/>
          </a:prstGeom>
          <a:solidFill>
            <a:srgbClr val="0F62FE"/>
          </a:solidFill>
          <a:ln w="12700">
            <a:solidFill>
              <a:srgbClr val="0F62FE"/>
            </a:solidFill>
            <a:prstDash val="solid"/>
          </a:ln>
        </p:spPr>
      </p:sp>
      <p:sp>
        <p:nvSpPr>
          <p:cNvPr id="6" name="Text 4"/>
          <p:cNvSpPr txBox="1"/>
          <p:nvPr/>
        </p:nvSpPr>
        <p:spPr>
          <a:xfrm>
            <a:off x="640080" y="11338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005840"/>
            <a:ext cx="7406640" cy="6400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app.py</a:t>
            </a:r>
            <a:pPr indent="0" marL="0">
              <a:buNone/>
            </a:pPr>
            <a:r>
              <a:rPr lang="en-US" sz="1300" dirty="0">
                <a:solidFill>
                  <a:srgbClr val="1B2A41"/>
                </a:solidFill>
                <a:latin typeface="Calibri" pitchFamily="34" charset="0"/>
                <a:ea typeface="Calibri" pitchFamily="34" charset="-122"/>
                <a:cs typeface="Calibri" pitchFamily="34" charset="-120"/>
              </a:rPr>
              <a:t> – Flask backend and API routes</a:t>
            </a:r>
            <a:endParaRPr lang="en-US" sz="1200" dirty="0"/>
          </a:p>
        </p:txBody>
      </p:sp>
      <p:sp>
        <p:nvSpPr>
          <p:cNvPr id="8" name="Shape 6"/>
          <p:cNvSpPr/>
          <p:nvPr/>
        </p:nvSpPr>
        <p:spPr>
          <a:xfrm>
            <a:off x="457200" y="1764792"/>
            <a:ext cx="822960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9" name="Shape 7"/>
          <p:cNvSpPr/>
          <p:nvPr/>
        </p:nvSpPr>
        <p:spPr>
          <a:xfrm>
            <a:off x="640080" y="1892808"/>
            <a:ext cx="384048" cy="384048"/>
          </a:xfrm>
          <a:prstGeom prst="ellipse">
            <a:avLst/>
          </a:prstGeom>
          <a:solidFill>
            <a:srgbClr val="0F62FE"/>
          </a:solidFill>
          <a:ln w="12700">
            <a:solidFill>
              <a:srgbClr val="0F62FE"/>
            </a:solidFill>
            <a:prstDash val="solid"/>
          </a:ln>
        </p:spPr>
      </p:sp>
      <p:sp>
        <p:nvSpPr>
          <p:cNvPr id="10" name="Text 8"/>
          <p:cNvSpPr txBox="1"/>
          <p:nvPr/>
        </p:nvSpPr>
        <p:spPr>
          <a:xfrm>
            <a:off x="640080"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88720" y="1764792"/>
            <a:ext cx="7406640" cy="6400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requirements.txt</a:t>
            </a:r>
            <a:pPr indent="0" marL="0">
              <a:buNone/>
            </a:pPr>
            <a:r>
              <a:rPr lang="en-US" sz="1300" dirty="0">
                <a:solidFill>
                  <a:srgbClr val="1B2A41"/>
                </a:solidFill>
                <a:latin typeface="Calibri" pitchFamily="34" charset="0"/>
                <a:ea typeface="Calibri" pitchFamily="34" charset="-122"/>
                <a:cs typeface="Calibri" pitchFamily="34" charset="-120"/>
              </a:rPr>
              <a:t> – Python dependencies</a:t>
            </a:r>
            <a:endParaRPr lang="en-US" sz="1200" dirty="0"/>
          </a:p>
        </p:txBody>
      </p:sp>
      <p:sp>
        <p:nvSpPr>
          <p:cNvPr id="12" name="Shape 10"/>
          <p:cNvSpPr/>
          <p:nvPr/>
        </p:nvSpPr>
        <p:spPr>
          <a:xfrm>
            <a:off x="457200" y="2523744"/>
            <a:ext cx="822960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3" name="Shape 11"/>
          <p:cNvSpPr/>
          <p:nvPr/>
        </p:nvSpPr>
        <p:spPr>
          <a:xfrm>
            <a:off x="640080" y="2651760"/>
            <a:ext cx="384048" cy="384048"/>
          </a:xfrm>
          <a:prstGeom prst="ellipse">
            <a:avLst/>
          </a:prstGeom>
          <a:solidFill>
            <a:srgbClr val="0F62FE"/>
          </a:solidFill>
          <a:ln w="12700">
            <a:solidFill>
              <a:srgbClr val="0F62FE"/>
            </a:solidFill>
            <a:prstDash val="solid"/>
          </a:ln>
        </p:spPr>
      </p:sp>
      <p:sp>
        <p:nvSpPr>
          <p:cNvPr id="14" name="Text 12"/>
          <p:cNvSpPr txBox="1"/>
          <p:nvPr/>
        </p:nvSpPr>
        <p:spPr>
          <a:xfrm>
            <a:off x="64008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188720" y="2523744"/>
            <a:ext cx="7406640" cy="6400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agents.py</a:t>
            </a:r>
            <a:pPr indent="0" marL="0">
              <a:buNone/>
            </a:pPr>
            <a:r>
              <a:rPr lang="en-US" sz="1300" dirty="0">
                <a:solidFill>
                  <a:srgbClr val="1B2A41"/>
                </a:solidFill>
                <a:latin typeface="Calibri" pitchFamily="34" charset="0"/>
                <a:ea typeface="Calibri" pitchFamily="34" charset="-122"/>
                <a:cs typeface="Calibri" pitchFamily="34" charset="-120"/>
              </a:rPr>
              <a:t> – the six research agents</a:t>
            </a:r>
            <a:endParaRPr lang="en-US" sz="1200" dirty="0"/>
          </a:p>
        </p:txBody>
      </p:sp>
      <p:sp>
        <p:nvSpPr>
          <p:cNvPr id="16" name="Shape 14"/>
          <p:cNvSpPr/>
          <p:nvPr/>
        </p:nvSpPr>
        <p:spPr>
          <a:xfrm>
            <a:off x="457200" y="3282696"/>
            <a:ext cx="822960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7" name="Shape 15"/>
          <p:cNvSpPr/>
          <p:nvPr/>
        </p:nvSpPr>
        <p:spPr>
          <a:xfrm>
            <a:off x="640080" y="3410712"/>
            <a:ext cx="384048" cy="384048"/>
          </a:xfrm>
          <a:prstGeom prst="ellipse">
            <a:avLst/>
          </a:prstGeom>
          <a:solidFill>
            <a:srgbClr val="0F62FE"/>
          </a:solidFill>
          <a:ln w="12700">
            <a:solidFill>
              <a:srgbClr val="0F62FE"/>
            </a:solidFill>
            <a:prstDash val="solid"/>
          </a:ln>
        </p:spPr>
      </p:sp>
      <p:sp>
        <p:nvSpPr>
          <p:cNvPr id="18" name="Text 16"/>
          <p:cNvSpPr txBox="1"/>
          <p:nvPr/>
        </p:nvSpPr>
        <p:spPr>
          <a:xfrm>
            <a:off x="640080" y="3410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188720" y="3282696"/>
            <a:ext cx="7406640" cy="6400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rag.py</a:t>
            </a:r>
            <a:pPr indent="0" marL="0">
              <a:buNone/>
            </a:pPr>
            <a:r>
              <a:rPr lang="en-US" sz="1300" dirty="0">
                <a:solidFill>
                  <a:srgbClr val="1B2A41"/>
                </a:solidFill>
                <a:latin typeface="Calibri" pitchFamily="34" charset="0"/>
                <a:ea typeface="Calibri" pitchFamily="34" charset="-122"/>
                <a:cs typeface="Calibri" pitchFamily="34" charset="-120"/>
              </a:rPr>
              <a:t> – PDF extraction, chunking, FAISS index</a:t>
            </a:r>
            <a:endParaRPr lang="en-US" sz="1200" dirty="0"/>
          </a:p>
        </p:txBody>
      </p:sp>
      <p:sp>
        <p:nvSpPr>
          <p:cNvPr id="20" name="Shape 18"/>
          <p:cNvSpPr/>
          <p:nvPr/>
        </p:nvSpPr>
        <p:spPr>
          <a:xfrm>
            <a:off x="457200" y="4041648"/>
            <a:ext cx="8229600" cy="64008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21" name="Shape 19"/>
          <p:cNvSpPr/>
          <p:nvPr/>
        </p:nvSpPr>
        <p:spPr>
          <a:xfrm>
            <a:off x="640080" y="4169664"/>
            <a:ext cx="384048" cy="384048"/>
          </a:xfrm>
          <a:prstGeom prst="ellipse">
            <a:avLst/>
          </a:prstGeom>
          <a:solidFill>
            <a:srgbClr val="0F62FE"/>
          </a:solidFill>
          <a:ln w="12700">
            <a:solidFill>
              <a:srgbClr val="0F62FE"/>
            </a:solidFill>
            <a:prstDash val="solid"/>
          </a:ln>
        </p:spPr>
      </p:sp>
      <p:sp>
        <p:nvSpPr>
          <p:cNvPr id="22" name="Text 20"/>
          <p:cNvSpPr txBox="1"/>
          <p:nvPr/>
        </p:nvSpPr>
        <p:spPr>
          <a:xfrm>
            <a:off x="640080" y="4169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1188720" y="4041648"/>
            <a:ext cx="7406640" cy="6400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templates/index.html + static/style.css + static/app.js</a:t>
            </a:r>
            <a:pPr indent="0" marL="0">
              <a:buNone/>
            </a:pPr>
            <a:r>
              <a:rPr lang="en-US" sz="1300" dirty="0">
                <a:solidFill>
                  <a:srgbClr val="1B2A41"/>
                </a:solidFill>
                <a:latin typeface="Calibri" pitchFamily="34" charset="0"/>
                <a:ea typeface="Calibri" pitchFamily="34" charset="-122"/>
                <a:cs typeface="Calibri" pitchFamily="34" charset="-120"/>
              </a:rPr>
              <a:t> – dashboard UI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IBM Bob Screenshots:</a:t>
            </a:r>
            <a:endParaRPr lang="en-US" sz="2600" dirty="0"/>
          </a:p>
        </p:txBody>
      </p:sp>
      <p:sp>
        <p:nvSpPr>
          <p:cNvPr id="4" name="Shape 2"/>
          <p:cNvSpPr/>
          <p:nvPr/>
        </p:nvSpPr>
        <p:spPr>
          <a:xfrm>
            <a:off x="892722" y="1005840"/>
            <a:ext cx="7358557"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bob_files.png">    </p:cNvPr>
          <p:cNvPicPr>
            <a:picLocks noChangeAspect="1"/>
          </p:cNvPicPr>
          <p:nvPr/>
        </p:nvPicPr>
        <p:blipFill>
          <a:blip r:embed="rId1"/>
          <a:stretch>
            <a:fillRect/>
          </a:stretch>
        </p:blipFill>
        <p:spPr>
          <a:xfrm>
            <a:off x="1029882" y="1143000"/>
            <a:ext cx="7084237" cy="3566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1185384" y="365760"/>
            <a:ext cx="6773232" cy="4480560"/>
          </a:xfrm>
          <a:prstGeom prst="roundRect">
            <a:avLst>
              <a:gd name="adj" fmla="val 1633"/>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3" name="Image 0" descr="/home/claude/assets/bob_code.png">    </p:cNvPr>
          <p:cNvPicPr>
            <a:picLocks noChangeAspect="1"/>
          </p:cNvPicPr>
          <p:nvPr/>
        </p:nvPicPr>
        <p:blipFill>
          <a:blip r:embed="rId1"/>
          <a:stretch>
            <a:fillRect/>
          </a:stretch>
        </p:blipFill>
        <p:spPr>
          <a:xfrm>
            <a:off x="1322544" y="502920"/>
            <a:ext cx="6498912" cy="4206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Architecture blueprint for IBM bob:</a:t>
            </a:r>
            <a:endParaRPr lang="en-US" sz="2600" dirty="0"/>
          </a:p>
        </p:txBody>
      </p:sp>
      <p:sp>
        <p:nvSpPr>
          <p:cNvPr id="4" name="Shape 2"/>
          <p:cNvSpPr/>
          <p:nvPr/>
        </p:nvSpPr>
        <p:spPr>
          <a:xfrm>
            <a:off x="2630725" y="914400"/>
            <a:ext cx="3882551" cy="4023360"/>
          </a:xfrm>
          <a:prstGeom prst="roundRect">
            <a:avLst>
              <a:gd name="adj" fmla="val 1884"/>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arch.png">    </p:cNvPr>
          <p:cNvPicPr>
            <a:picLocks noChangeAspect="1"/>
          </p:cNvPicPr>
          <p:nvPr/>
        </p:nvPicPr>
        <p:blipFill>
          <a:blip r:embed="rId1"/>
          <a:stretch>
            <a:fillRect/>
          </a:stretch>
        </p:blipFill>
        <p:spPr>
          <a:xfrm>
            <a:off x="2767885" y="1051560"/>
            <a:ext cx="3608231" cy="3749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Role of Agentic AI in the solution</a:t>
            </a:r>
            <a:endParaRPr lang="en-US" sz="2600" dirty="0"/>
          </a:p>
        </p:txBody>
      </p:sp>
      <p:sp>
        <p:nvSpPr>
          <p:cNvPr id="4" name="Shape 2"/>
          <p:cNvSpPr/>
          <p:nvPr/>
        </p:nvSpPr>
        <p:spPr>
          <a:xfrm>
            <a:off x="457200" y="914400"/>
            <a:ext cx="5394960" cy="3931920"/>
          </a:xfrm>
          <a:prstGeom prst="roundRect">
            <a:avLst>
              <a:gd name="adj" fmla="val 186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Text 3"/>
          <p:cNvSpPr txBox="1"/>
          <p:nvPr/>
        </p:nvSpPr>
        <p:spPr>
          <a:xfrm>
            <a:off x="457200" y="914400"/>
            <a:ext cx="5394960" cy="3931920"/>
          </a:xfrm>
          <a:prstGeom prst="rect">
            <a:avLst/>
          </a:prstGeom>
          <a:noFill/>
          <a:ln/>
        </p:spPr>
        <p:txBody>
          <a:bodyPr wrap="square" lIns="2540" tIns="2540" rIns="2540" bIns="2540" rtlCol="0" anchor="t"/>
          <a:lstStyle/>
          <a:p>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Role of Agentic AI in the Research Agent</a:t>
            </a:r>
            <a:endParaRPr lang="en-US" sz="1250" dirty="0"/>
          </a:p>
          <a:p>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Agentic AI</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enables the Research Agent to function as an intelligent, autonomous system rather than a simple chatbot. Using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IBM watsonx.ai</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and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IBM Granite models</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it coordinates multiple specialized agents to deliver grounded, synthesized research guidance. Granite is not connected in this build, so the agents run on deterministic local logic instead.</a:t>
            </a:r>
            <a:endParaRPr lang="en-US" sz="1250" dirty="0"/>
          </a:p>
          <a:p>
            <a:pPr indent="0" marL="0">
              <a:spcAft>
                <a:spcPts val="600"/>
              </a:spcAft>
              <a:buNone/>
            </a:pPr>
            <a:r>
              <a:rPr lang="en-US" sz="1250" dirty="0">
                <a:solidFill>
                  <a:srgbClr val="1B2A41"/>
                </a:solidFill>
                <a:latin typeface="Calibri" pitchFamily="34" charset="0"/>
                <a:ea typeface="Calibri" pitchFamily="34" charset="-122"/>
                <a:cs typeface="Calibri" pitchFamily="34" charset="-120"/>
              </a:rPr>
              <a:t>Each agent performs a specific role—such as analyzing papers, retrieving evidence, comparing methods, and detecting gaps—while working collaboratively. This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multi-agent approach</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ensures efficient task execution and accurate results.</a:t>
            </a:r>
            <a:endParaRPr lang="en-US" sz="1250" dirty="0"/>
          </a:p>
          <a:p>
            <a:pPr indent="0" marL="0">
              <a:spcAft>
                <a:spcPts val="600"/>
              </a:spcAft>
              <a:buNone/>
            </a:pPr>
            <a:r>
              <a:rPr lang="en-US" sz="1250" dirty="0">
                <a:solidFill>
                  <a:srgbClr val="1B2A41"/>
                </a:solidFill>
                <a:latin typeface="Calibri" pitchFamily="34" charset="0"/>
                <a:ea typeface="Calibri" pitchFamily="34" charset="-122"/>
                <a:cs typeface="Calibri" pitchFamily="34" charset="-120"/>
              </a:rPr>
              <a:t>Agentic AI also brings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context awareness</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understanding the user’s research question and the uploaded paper set in context to generate tailored answers. It supports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real-time adaptation</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continuously updating its analysis as new papers are uploaded.</a:t>
            </a:r>
            <a:endParaRPr lang="en-US" sz="1250" dirty="0"/>
          </a:p>
          <a:p>
            <a:pPr indent="0" marL="0">
              <a:spcAft>
                <a:spcPts val="600"/>
              </a:spcAft>
              <a:buNone/>
            </a:pPr>
            <a:r>
              <a:rPr lang="en-US" sz="1250" dirty="0">
                <a:solidFill>
                  <a:srgbClr val="1B2A41"/>
                </a:solidFill>
                <a:latin typeface="Calibri" pitchFamily="34" charset="0"/>
                <a:ea typeface="Calibri" pitchFamily="34" charset="-122"/>
                <a:cs typeface="Calibri" pitchFamily="34" charset="-120"/>
              </a:rPr>
              <a:t>Additionally, agents communicate with each other, enabling better decision-making and improved outcomes.</a:t>
            </a:r>
            <a:endParaRPr lang="en-US" sz="1250" dirty="0"/>
          </a:p>
          <a:p>
            <a:pPr indent="0" marL="0">
              <a:spcAft>
                <a:spcPts val="600"/>
              </a:spcAft>
              <a:buNone/>
            </a:pPr>
            <a:r>
              <a:rPr lang="en-US" sz="1250" dirty="0">
                <a:solidFill>
                  <a:srgbClr val="1B2A41"/>
                </a:solidFill>
                <a:latin typeface="Calibri" pitchFamily="34" charset="0"/>
                <a:ea typeface="Calibri" pitchFamily="34" charset="-122"/>
                <a:cs typeface="Calibri" pitchFamily="34" charset="-120"/>
              </a:rPr>
              <a:t>Overall, Agentic AI makes the system proactive, personalized, and goal-driven, acting like a </a:t>
            </a:r>
            <a:pPr indent="0" marL="0">
              <a:spcAft>
                <a:spcPts val="600"/>
              </a:spcAft>
              <a:buNone/>
            </a:pPr>
            <a:r>
              <a:rPr lang="en-US" sz="1250" b="1" dirty="0">
                <a:solidFill>
                  <a:srgbClr val="1B2A41"/>
                </a:solidFill>
                <a:latin typeface="Calibri" pitchFamily="34" charset="0"/>
                <a:ea typeface="Calibri" pitchFamily="34" charset="-122"/>
                <a:cs typeface="Calibri" pitchFamily="34" charset="-120"/>
              </a:rPr>
              <a:t>smart digital research assistant</a:t>
            </a:r>
            <a:pPr indent="0" marL="0">
              <a:spcAft>
                <a:spcPts val="600"/>
              </a:spcAft>
              <a:buNone/>
            </a:pPr>
            <a:r>
              <a:rPr lang="en-US" sz="1250" dirty="0">
                <a:solidFill>
                  <a:srgbClr val="1B2A41"/>
                </a:solidFill>
                <a:latin typeface="Calibri" pitchFamily="34" charset="0"/>
                <a:ea typeface="Calibri" pitchFamily="34" charset="-122"/>
                <a:cs typeface="Calibri" pitchFamily="34" charset="-120"/>
              </a:rPr>
              <a:t> that helps users navigate the literature with confidence.</a:t>
            </a:r>
            <a:endParaRPr lang="en-US" sz="1250" dirty="0"/>
          </a:p>
        </p:txBody>
      </p:sp>
      <p:pic>
        <p:nvPicPr>
          <p:cNvPr id="6" name="Image 0" descr="/home/claude/assets/robot.png">    </p:cNvPr>
          <p:cNvPicPr>
            <a:picLocks noChangeAspect="1"/>
          </p:cNvPicPr>
          <p:nvPr/>
        </p:nvPicPr>
        <p:blipFill>
          <a:blip r:embed="rId1"/>
          <a:stretch>
            <a:fillRect/>
          </a:stretch>
        </p:blipFill>
        <p:spPr>
          <a:xfrm>
            <a:off x="6080760" y="914400"/>
            <a:ext cx="2606040" cy="3904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Project Output Screenshot</a:t>
            </a:r>
            <a:endParaRPr lang="en-US" sz="2600" dirty="0"/>
          </a:p>
        </p:txBody>
      </p:sp>
      <p:sp>
        <p:nvSpPr>
          <p:cNvPr id="4" name="Shape 2"/>
          <p:cNvSpPr/>
          <p:nvPr/>
        </p:nvSpPr>
        <p:spPr>
          <a:xfrm>
            <a:off x="1679867" y="1005840"/>
            <a:ext cx="5784267"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out1.png">    </p:cNvPr>
          <p:cNvPicPr>
            <a:picLocks noChangeAspect="1"/>
          </p:cNvPicPr>
          <p:nvPr/>
        </p:nvPicPr>
        <p:blipFill>
          <a:blip r:embed="rId1"/>
          <a:stretch>
            <a:fillRect/>
          </a:stretch>
        </p:blipFill>
        <p:spPr>
          <a:xfrm>
            <a:off x="1817027" y="1143000"/>
            <a:ext cx="5509947" cy="3566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Project Output Screenshot</a:t>
            </a:r>
            <a:endParaRPr lang="en-US" sz="2600" dirty="0"/>
          </a:p>
        </p:txBody>
      </p:sp>
      <p:sp>
        <p:nvSpPr>
          <p:cNvPr id="4" name="Shape 2"/>
          <p:cNvSpPr/>
          <p:nvPr/>
        </p:nvSpPr>
        <p:spPr>
          <a:xfrm>
            <a:off x="1679867" y="1005840"/>
            <a:ext cx="5784267"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out2.png">    </p:cNvPr>
          <p:cNvPicPr>
            <a:picLocks noChangeAspect="1"/>
          </p:cNvPicPr>
          <p:nvPr/>
        </p:nvPicPr>
        <p:blipFill>
          <a:blip r:embed="rId1"/>
          <a:stretch>
            <a:fillRect/>
          </a:stretch>
        </p:blipFill>
        <p:spPr>
          <a:xfrm>
            <a:off x="1817027" y="1143000"/>
            <a:ext cx="5509947" cy="35661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Project Output Screenshot</a:t>
            </a:r>
            <a:endParaRPr lang="en-US" sz="2600" dirty="0"/>
          </a:p>
        </p:txBody>
      </p:sp>
      <p:sp>
        <p:nvSpPr>
          <p:cNvPr id="4" name="Shape 2"/>
          <p:cNvSpPr/>
          <p:nvPr/>
        </p:nvSpPr>
        <p:spPr>
          <a:xfrm>
            <a:off x="1681780" y="1005840"/>
            <a:ext cx="5780440"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out3.png">    </p:cNvPr>
          <p:cNvPicPr>
            <a:picLocks noChangeAspect="1"/>
          </p:cNvPicPr>
          <p:nvPr/>
        </p:nvPicPr>
        <p:blipFill>
          <a:blip r:embed="rId1"/>
          <a:stretch>
            <a:fillRect/>
          </a:stretch>
        </p:blipFill>
        <p:spPr>
          <a:xfrm>
            <a:off x="1818940" y="1143000"/>
            <a:ext cx="5506120" cy="3566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Novelty and Uniqueness</a:t>
            </a:r>
            <a:endParaRPr lang="en-US" sz="2600" dirty="0"/>
          </a:p>
        </p:txBody>
      </p:sp>
      <p:sp>
        <p:nvSpPr>
          <p:cNvPr id="4" name="Text 2"/>
          <p:cNvSpPr txBox="1"/>
          <p:nvPr/>
        </p:nvSpPr>
        <p:spPr>
          <a:xfrm>
            <a:off x="457200" y="822960"/>
            <a:ext cx="8229600" cy="457200"/>
          </a:xfrm>
          <a:prstGeom prst="rect">
            <a:avLst/>
          </a:prstGeom>
          <a:noFill/>
          <a:ln/>
        </p:spPr>
        <p:txBody>
          <a:bodyPr wrap="square" lIns="0" tIns="0" rIns="0" bIns="0" rtlCol="0" anchor="ctr"/>
          <a:lstStyle/>
          <a:p>
            <a:pPr indent="0" marL="0">
              <a:spcAft>
                <a:spcPts val="500"/>
              </a:spcAft>
              <a:buNone/>
            </a:pPr>
            <a:r>
              <a:rPr lang="en-US" sz="1150" dirty="0">
                <a:solidFill>
                  <a:srgbClr val="1B2A41"/>
                </a:solidFill>
                <a:latin typeface="Calibri" pitchFamily="34" charset="0"/>
                <a:ea typeface="Calibri" pitchFamily="34" charset="-122"/>
                <a:cs typeface="Calibri" pitchFamily="34" charset="-120"/>
              </a:rPr>
              <a:t>The proposed Research Agent stands out by combining </a:t>
            </a:r>
            <a:pPr indent="0" marL="0">
              <a:spcAft>
                <a:spcPts val="500"/>
              </a:spcAft>
              <a:buNone/>
            </a:pPr>
            <a:r>
              <a:rPr lang="en-US" sz="1150" b="1" dirty="0">
                <a:solidFill>
                  <a:srgbClr val="1B2A41"/>
                </a:solidFill>
                <a:latin typeface="Calibri" pitchFamily="34" charset="0"/>
                <a:ea typeface="Calibri" pitchFamily="34" charset="-122"/>
                <a:cs typeface="Calibri" pitchFamily="34" charset="-120"/>
              </a:rPr>
              <a:t>Agentic AI, RAG, and grounded synthesis</a:t>
            </a:r>
            <a:pPr indent="0" marL="0">
              <a:spcAft>
                <a:spcPts val="500"/>
              </a:spcAft>
              <a:buNone/>
            </a:pPr>
            <a:r>
              <a:rPr lang="en-US" sz="1150" dirty="0">
                <a:solidFill>
                  <a:srgbClr val="1B2A41"/>
                </a:solidFill>
                <a:latin typeface="Calibri" pitchFamily="34" charset="0"/>
                <a:ea typeface="Calibri" pitchFamily="34" charset="-122"/>
                <a:cs typeface="Calibri" pitchFamily="34" charset="-120"/>
              </a:rPr>
              <a:t> into a single intelligent research companion.</a:t>
            </a:r>
            <a:endParaRPr lang="en-US" sz="1150" dirty="0"/>
          </a:p>
        </p:txBody>
      </p:sp>
      <p:sp>
        <p:nvSpPr>
          <p:cNvPr id="5" name="Shape 3"/>
          <p:cNvSpPr/>
          <p:nvPr/>
        </p:nvSpPr>
        <p:spPr>
          <a:xfrm>
            <a:off x="457200" y="1371600"/>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6" name="Text 4"/>
          <p:cNvSpPr txBox="1"/>
          <p:nvPr/>
        </p:nvSpPr>
        <p:spPr>
          <a:xfrm>
            <a:off x="457200" y="1371600"/>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Multi-Agent Intelligence</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Instead of a single chatbot, six specialized agents collaborate to analyze, compare, and synthesize research.</a:t>
            </a:r>
            <a:endParaRPr lang="en-US" sz="1050" dirty="0"/>
          </a:p>
        </p:txBody>
      </p:sp>
      <p:sp>
        <p:nvSpPr>
          <p:cNvPr id="7" name="Shape 5"/>
          <p:cNvSpPr/>
          <p:nvPr/>
        </p:nvSpPr>
        <p:spPr>
          <a:xfrm>
            <a:off x="4663440" y="1371600"/>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8" name="Text 6"/>
          <p:cNvSpPr txBox="1"/>
          <p:nvPr/>
        </p:nvSpPr>
        <p:spPr>
          <a:xfrm>
            <a:off x="4663440" y="1371600"/>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RAG-Based Accuracy</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Grounds every answer in the actual uploaded papers via FAISS retrieval, reducing hallucination and keeping answers traceable to source text.</a:t>
            </a:r>
            <a:endParaRPr lang="en-US" sz="1050" dirty="0"/>
          </a:p>
        </p:txBody>
      </p:sp>
      <p:sp>
        <p:nvSpPr>
          <p:cNvPr id="9" name="Shape 7"/>
          <p:cNvSpPr/>
          <p:nvPr/>
        </p:nvSpPr>
        <p:spPr>
          <a:xfrm>
            <a:off x="457200" y="2221992"/>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0" name="Text 8"/>
          <p:cNvSpPr txBox="1"/>
          <p:nvPr/>
        </p:nvSpPr>
        <p:spPr>
          <a:xfrm>
            <a:off x="457200" y="2221992"/>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Cross-Paper Comparison</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Compares multiple papers side by side on methods, findings, and datasets in one structured view.</a:t>
            </a:r>
            <a:endParaRPr lang="en-US" sz="1050" dirty="0"/>
          </a:p>
        </p:txBody>
      </p:sp>
      <p:sp>
        <p:nvSpPr>
          <p:cNvPr id="11" name="Shape 9"/>
          <p:cNvSpPr/>
          <p:nvPr/>
        </p:nvSpPr>
        <p:spPr>
          <a:xfrm>
            <a:off x="4663440" y="2221992"/>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2" name="Text 10"/>
          <p:cNvSpPr txBox="1"/>
          <p:nvPr/>
        </p:nvSpPr>
        <p:spPr>
          <a:xfrm>
            <a:off x="4663440" y="2221992"/>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Gap &amp; Direction Detection</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Surfaces unexplored areas and suggests concrete future research directions from the analyzed literature.</a:t>
            </a:r>
            <a:endParaRPr lang="en-US" sz="1050" dirty="0"/>
          </a:p>
        </p:txBody>
      </p:sp>
      <p:sp>
        <p:nvSpPr>
          <p:cNvPr id="13" name="Shape 11"/>
          <p:cNvSpPr/>
          <p:nvPr/>
        </p:nvSpPr>
        <p:spPr>
          <a:xfrm>
            <a:off x="457200" y="3072384"/>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4" name="Text 12"/>
          <p:cNvSpPr txBox="1"/>
          <p:nvPr/>
        </p:nvSpPr>
        <p:spPr>
          <a:xfrm>
            <a:off x="457200" y="3072384"/>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Multi-Modal Input</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Works with PDFs, notes, and charts, not just plain text.</a:t>
            </a:r>
            <a:endParaRPr lang="en-US" sz="1050" dirty="0"/>
          </a:p>
        </p:txBody>
      </p:sp>
      <p:sp>
        <p:nvSpPr>
          <p:cNvPr id="15" name="Shape 13"/>
          <p:cNvSpPr/>
          <p:nvPr/>
        </p:nvSpPr>
        <p:spPr>
          <a:xfrm>
            <a:off x="4663440" y="3072384"/>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6" name="Text 14"/>
          <p:cNvSpPr txBox="1"/>
          <p:nvPr/>
        </p:nvSpPr>
        <p:spPr>
          <a:xfrm>
            <a:off x="4663440" y="3072384"/>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Literature Review Generation</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Drafts a structured, section-by-section literature review directly from the paper set.</a:t>
            </a:r>
            <a:endParaRPr lang="en-US" sz="1050" dirty="0"/>
          </a:p>
        </p:txBody>
      </p:sp>
      <p:sp>
        <p:nvSpPr>
          <p:cNvPr id="17" name="Shape 15"/>
          <p:cNvSpPr/>
          <p:nvPr/>
        </p:nvSpPr>
        <p:spPr>
          <a:xfrm>
            <a:off x="457200" y="3922776"/>
            <a:ext cx="4023360"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18" name="Text 16"/>
          <p:cNvSpPr txBox="1"/>
          <p:nvPr/>
        </p:nvSpPr>
        <p:spPr>
          <a:xfrm>
            <a:off x="457200" y="3922776"/>
            <a:ext cx="4023360" cy="786384"/>
          </a:xfrm>
          <a:prstGeom prst="rect">
            <a:avLst/>
          </a:prstGeom>
          <a:noFill/>
          <a:ln/>
        </p:spPr>
        <p:txBody>
          <a:bodyPr wrap="square" lIns="1524" tIns="1524" rIns="1524" bIns="1524" rtlCol="0" anchor="ctr"/>
          <a:lstStyle/>
          <a:p>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Scalable &amp; Enterprise-Ready</a:t>
            </a:r>
            <a:endParaRPr lang="en-US" sz="1050" dirty="0"/>
          </a:p>
          <a:p>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Built on </a:t>
            </a:r>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IBM watsonx.ai</a:t>
            </a:r>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with </a:t>
            </a:r>
            <a:pPr indent="0" marL="0">
              <a:spcAft>
                <a:spcPts val="100"/>
              </a:spcAft>
              <a:buNone/>
            </a:pPr>
            <a:r>
              <a:rPr lang="en-US" sz="1050" b="1" dirty="0">
                <a:solidFill>
                  <a:srgbClr val="1B2A41"/>
                </a:solidFill>
                <a:latin typeface="Calibri" pitchFamily="34" charset="0"/>
                <a:ea typeface="Calibri" pitchFamily="34" charset="-122"/>
                <a:cs typeface="Calibri" pitchFamily="34" charset="-120"/>
              </a:rPr>
              <a:t>IBM Granite models</a:t>
            </a:r>
            <a:pPr indent="0" marL="0">
              <a:spcAft>
                <a:spcPts val="100"/>
              </a:spcAft>
              <a:buNone/>
            </a:pPr>
            <a:r>
              <a:rPr lang="en-US" sz="1050" dirty="0">
                <a:solidFill>
                  <a:srgbClr val="1B2A41"/>
                </a:solidFill>
                <a:latin typeface="Calibri" pitchFamily="34" charset="0"/>
                <a:ea typeface="Calibri" pitchFamily="34" charset="-122"/>
                <a:cs typeface="Calibri" pitchFamily="34" charset="-120"/>
              </a:rPr>
              <a:t>, ensuring reliability and governance when connected; the app is fully usable offline in Demo Mode otherwise.</a:t>
            </a:r>
            <a:endParaRPr lang="en-US" sz="1050" dirty="0"/>
          </a:p>
        </p:txBody>
      </p:sp>
      <p:sp>
        <p:nvSpPr>
          <p:cNvPr id="19" name="Shape 17"/>
          <p:cNvSpPr/>
          <p:nvPr/>
        </p:nvSpPr>
        <p:spPr>
          <a:xfrm>
            <a:off x="4663440" y="3922776"/>
            <a:ext cx="4023360" cy="786384"/>
          </a:xfrm>
          <a:prstGeom prst="roundRect">
            <a:avLst>
              <a:gd name="adj" fmla="val 9302"/>
            </a:avLst>
          </a:prstGeom>
          <a:solidFill>
            <a:srgbClr val="0B1F3A"/>
          </a:solidFill>
          <a:ln w="12700">
            <a:solidFill>
              <a:srgbClr val="0B1F3A"/>
            </a:solidFill>
            <a:prstDash val="solid"/>
          </a:ln>
        </p:spPr>
      </p:sp>
      <p:sp>
        <p:nvSpPr>
          <p:cNvPr id="20" name="Text 18"/>
          <p:cNvSpPr txBox="1"/>
          <p:nvPr/>
        </p:nvSpPr>
        <p:spPr>
          <a:xfrm>
            <a:off x="4663440" y="3922776"/>
            <a:ext cx="4023360" cy="786384"/>
          </a:xfrm>
          <a:prstGeom prst="rect">
            <a:avLst/>
          </a:prstGeom>
          <a:noFill/>
          <a:ln/>
        </p:spPr>
        <p:txBody>
          <a:bodyPr wrap="square" lIns="1524" tIns="1524" rIns="1524" bIns="1524" rtlCol="0" anchor="ctr"/>
          <a:lstStyle/>
          <a:p>
            <a:pPr indent="0" marL="0">
              <a:spcAft>
                <a:spcPts val="500"/>
              </a:spcAft>
              <a:buNone/>
            </a:pPr>
            <a:r>
              <a:rPr lang="en-US" sz="1050" dirty="0">
                <a:solidFill>
                  <a:srgbClr val="FFFFFF"/>
                </a:solidFill>
                <a:latin typeface="Calibri" pitchFamily="34" charset="0"/>
                <a:ea typeface="Calibri" pitchFamily="34" charset="-122"/>
                <a:cs typeface="Calibri" pitchFamily="34" charset="-120"/>
              </a:rPr>
              <a:t>This makes the solution a </a:t>
            </a:r>
            <a:pPr indent="0" marL="0">
              <a:spcAft>
                <a:spcPts val="500"/>
              </a:spcAft>
              <a:buNone/>
            </a:pPr>
            <a:r>
              <a:rPr lang="en-US" sz="1050" b="1" dirty="0">
                <a:solidFill>
                  <a:srgbClr val="FFFFFF"/>
                </a:solidFill>
                <a:latin typeface="Calibri" pitchFamily="34" charset="0"/>
                <a:ea typeface="Calibri" pitchFamily="34" charset="-122"/>
                <a:cs typeface="Calibri" pitchFamily="34" charset="-120"/>
              </a:rPr>
              <a:t>smart, evidence-grounded research companion</a:t>
            </a:r>
            <a:pPr indent="0" marL="0">
              <a:spcAft>
                <a:spcPts val="500"/>
              </a:spcAft>
              <a:buNone/>
            </a:pPr>
            <a:r>
              <a:rPr lang="en-US" sz="1050" dirty="0">
                <a:solidFill>
                  <a:srgbClr val="FFFFFF"/>
                </a:solidFill>
                <a:latin typeface="Calibri" pitchFamily="34" charset="0"/>
                <a:ea typeface="Calibri" pitchFamily="34" charset="-122"/>
                <a:cs typeface="Calibri" pitchFamily="34" charset="-120"/>
              </a:rPr>
              <a:t>, not just a static PDF reader.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Git Hub Link</a:t>
            </a:r>
            <a:endParaRPr lang="en-US" sz="2600" dirty="0"/>
          </a:p>
        </p:txBody>
      </p:sp>
      <p:sp>
        <p:nvSpPr>
          <p:cNvPr id="4" name="Shape 2"/>
          <p:cNvSpPr/>
          <p:nvPr/>
        </p:nvSpPr>
        <p:spPr>
          <a:xfrm>
            <a:off x="457200" y="1554480"/>
            <a:ext cx="822960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Text 3"/>
          <p:cNvSpPr txBox="1"/>
          <p:nvPr/>
        </p:nvSpPr>
        <p:spPr>
          <a:xfrm>
            <a:off x="457200" y="1554480"/>
            <a:ext cx="8229600" cy="1463040"/>
          </a:xfrm>
          <a:prstGeom prst="rect">
            <a:avLst/>
          </a:prstGeom>
          <a:noFill/>
          <a:ln/>
        </p:spPr>
        <p:txBody>
          <a:bodyPr wrap="square" lIns="0" tIns="0" rIns="0" bIns="0" rtlCol="0" anchor="ctr"/>
          <a:lstStyle/>
          <a:p>
            <a:pPr algn="ctr" indent="0" marL="0">
              <a:buNone/>
            </a:pPr>
            <a:r>
              <a:rPr lang="en-US" sz="2000" b="1" u="sng" dirty="0">
                <a:solidFill>
                  <a:srgbClr val="0F62F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https://github.com/samikshayadav-ux/research_pilot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Future Scope</a:t>
            </a:r>
            <a:endParaRPr lang="en-US" sz="2600" dirty="0"/>
          </a:p>
        </p:txBody>
      </p:sp>
      <p:sp>
        <p:nvSpPr>
          <p:cNvPr id="4" name="Shape 2"/>
          <p:cNvSpPr/>
          <p:nvPr/>
        </p:nvSpPr>
        <p:spPr>
          <a:xfrm>
            <a:off x="457200" y="1005840"/>
            <a:ext cx="4023360" cy="3657600"/>
          </a:xfrm>
          <a:prstGeom prst="roundRect">
            <a:avLst>
              <a:gd name="adj" fmla="val 2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5" name="Text 3"/>
          <p:cNvSpPr txBox="1"/>
          <p:nvPr/>
        </p:nvSpPr>
        <p:spPr>
          <a:xfrm>
            <a:off x="457200" y="1005840"/>
            <a:ext cx="4023360" cy="3657600"/>
          </a:xfrm>
          <a:prstGeom prst="rect">
            <a:avLst/>
          </a:prstGeom>
          <a:noFill/>
          <a:ln/>
        </p:spPr>
        <p:txBody>
          <a:bodyPr wrap="square" lIns="3175" tIns="3175" rIns="3175" bIns="3175" rtlCol="0" anchor="t"/>
          <a:lstStyle/>
          <a:p>
            <a:pPr indent="0" marL="0">
              <a:spcAft>
                <a:spcPts val="1000"/>
              </a:spcAft>
              <a:buNone/>
            </a:pPr>
            <a:r>
              <a:rPr lang="en-US" sz="1300" b="1" dirty="0">
                <a:solidFill>
                  <a:srgbClr val="1B2A41"/>
                </a:solidFill>
                <a:latin typeface="Calibri" pitchFamily="34" charset="0"/>
                <a:ea typeface="Calibri" pitchFamily="34" charset="-122"/>
                <a:cs typeface="Calibri" pitchFamily="34" charset="-120"/>
              </a:rPr>
              <a:t>1. Live IBM watsonx.ai + Granite Integration –</a:t>
            </a:r>
            <a:endParaRPr lang="en-US" sz="1300" dirty="0"/>
          </a:p>
          <a:p>
            <a:pPr indent="0" marL="0">
              <a:spcAft>
                <a:spcPts val="1000"/>
              </a:spcAft>
              <a:buNone/>
            </a:pPr>
            <a:r>
              <a:rPr lang="en-US" sz="1300" dirty="0">
                <a:solidFill>
                  <a:srgbClr val="1B2A41"/>
                </a:solidFill>
                <a:latin typeface="Calibri" pitchFamily="34" charset="0"/>
                <a:ea typeface="Calibri" pitchFamily="34" charset="-122"/>
                <a:cs typeface="Calibri" pitchFamily="34" charset="-120"/>
              </a:rPr>
              <a:t>Connecting real watsonx.ai credentials would move every agent from deterministic Demo Mode to full Granite-powered reasoning, improving summarization quality, nuance, and the depth of comparisons and gap analysis.</a:t>
            </a:r>
            <a:endParaRPr lang="en-US" sz="1300" dirty="0"/>
          </a:p>
        </p:txBody>
      </p:sp>
      <p:sp>
        <p:nvSpPr>
          <p:cNvPr id="6" name="Shape 4"/>
          <p:cNvSpPr/>
          <p:nvPr/>
        </p:nvSpPr>
        <p:spPr>
          <a:xfrm>
            <a:off x="4663440" y="1005840"/>
            <a:ext cx="4023360" cy="3657600"/>
          </a:xfrm>
          <a:prstGeom prst="roundRect">
            <a:avLst>
              <a:gd name="adj" fmla="val 2000"/>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sp>
        <p:nvSpPr>
          <p:cNvPr id="7" name="Text 5"/>
          <p:cNvSpPr txBox="1"/>
          <p:nvPr/>
        </p:nvSpPr>
        <p:spPr>
          <a:xfrm>
            <a:off x="4663440" y="1005840"/>
            <a:ext cx="4023360" cy="3657600"/>
          </a:xfrm>
          <a:prstGeom prst="rect">
            <a:avLst/>
          </a:prstGeom>
          <a:noFill/>
          <a:ln/>
        </p:spPr>
        <p:txBody>
          <a:bodyPr wrap="square" lIns="3175" tIns="3175" rIns="3175" bIns="3175" rtlCol="0" anchor="t"/>
          <a:lstStyle/>
          <a:p>
            <a:pPr indent="0" marL="0">
              <a:spcAft>
                <a:spcPts val="1000"/>
              </a:spcAft>
              <a:buNone/>
            </a:pPr>
            <a:r>
              <a:rPr lang="en-US" sz="1300" b="1" dirty="0">
                <a:solidFill>
                  <a:srgbClr val="1B2A41"/>
                </a:solidFill>
                <a:latin typeface="Calibri" pitchFamily="34" charset="0"/>
                <a:ea typeface="Calibri" pitchFamily="34" charset="-122"/>
                <a:cs typeface="Calibri" pitchFamily="34" charset="-120"/>
              </a:rPr>
              <a:t>2.Citation Graphs &amp; Automated Research Alerts –</a:t>
            </a:r>
            <a:endParaRPr lang="en-US" sz="1300" dirty="0"/>
          </a:p>
          <a:p>
            <a:pPr indent="0" marL="0">
              <a:spcAft>
                <a:spcPts val="1000"/>
              </a:spcAft>
              <a:buNone/>
            </a:pPr>
            <a:r>
              <a:rPr lang="en-US" sz="1300" dirty="0">
                <a:solidFill>
                  <a:srgbClr val="1B2A41"/>
                </a:solidFill>
                <a:latin typeface="Calibri" pitchFamily="34" charset="0"/>
                <a:ea typeface="Calibri" pitchFamily="34" charset="-122"/>
                <a:cs typeface="Calibri" pitchFamily="34" charset="-120"/>
              </a:rPr>
              <a:t>Building true citation-network graphs from cross-referenced papers, and notifying users when newly indexed papers touch on their existing research gaps, would make the agent proactive rather than purely on-demand.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Certificates Earned:</a:t>
            </a:r>
            <a:endParaRPr lang="en-US" sz="2600" dirty="0"/>
          </a:p>
        </p:txBody>
      </p:sp>
      <p:sp>
        <p:nvSpPr>
          <p:cNvPr id="4" name="Shape 2"/>
          <p:cNvSpPr/>
          <p:nvPr/>
        </p:nvSpPr>
        <p:spPr>
          <a:xfrm>
            <a:off x="2134461" y="1005840"/>
            <a:ext cx="4875078"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cert1.png">    </p:cNvPr>
          <p:cNvPicPr>
            <a:picLocks noChangeAspect="1"/>
          </p:cNvPicPr>
          <p:nvPr/>
        </p:nvPicPr>
        <p:blipFill>
          <a:blip r:embed="rId1"/>
          <a:stretch>
            <a:fillRect/>
          </a:stretch>
        </p:blipFill>
        <p:spPr>
          <a:xfrm>
            <a:off x="2271621" y="1143000"/>
            <a:ext cx="4600758" cy="3566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2F9"/>
        </a:solidFill>
      </p:bgPr>
    </p:bg>
    <p:spTree>
      <p:nvGrpSpPr>
        <p:cNvPr id="1" name=""/>
        <p:cNvGrpSpPr/>
        <p:nvPr/>
      </p:nvGrpSpPr>
      <p:grpSpPr>
        <a:xfrm>
          <a:off x="0" y="0"/>
          <a:ext cx="0" cy="0"/>
          <a:chOff x="0" y="0"/>
          <a:chExt cx="0" cy="0"/>
        </a:xfrm>
      </p:grpSpPr>
      <p:sp>
        <p:nvSpPr>
          <p:cNvPr id="2" name="Shape 0"/>
          <p:cNvSpPr/>
          <p:nvPr/>
        </p:nvSpPr>
        <p:spPr>
          <a:xfrm>
            <a:off x="457200" y="429768"/>
            <a:ext cx="146304" cy="146304"/>
          </a:xfrm>
          <a:prstGeom prst="ellipse">
            <a:avLst/>
          </a:prstGeom>
          <a:solidFill>
            <a:srgbClr val="0F62FE"/>
          </a:solidFill>
          <a:ln w="12700">
            <a:solidFill>
              <a:srgbClr val="0F62FE"/>
            </a:solidFill>
            <a:prstDash val="solid"/>
          </a:ln>
        </p:spPr>
      </p:sp>
      <p:sp>
        <p:nvSpPr>
          <p:cNvPr id="3" name="Text 1"/>
          <p:cNvSpPr txBox="1"/>
          <p:nvPr/>
        </p:nvSpPr>
        <p:spPr>
          <a:xfrm>
            <a:off x="713232" y="228600"/>
            <a:ext cx="795528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Certificates Earned:</a:t>
            </a:r>
            <a:endParaRPr lang="en-US" sz="2600" dirty="0"/>
          </a:p>
        </p:txBody>
      </p:sp>
      <p:sp>
        <p:nvSpPr>
          <p:cNvPr id="4" name="Shape 2"/>
          <p:cNvSpPr/>
          <p:nvPr/>
        </p:nvSpPr>
        <p:spPr>
          <a:xfrm>
            <a:off x="1561644" y="1005840"/>
            <a:ext cx="6020713" cy="3840480"/>
          </a:xfrm>
          <a:prstGeom prst="roundRect">
            <a:avLst>
              <a:gd name="adj" fmla="val 1905"/>
            </a:avLst>
          </a:prstGeom>
          <a:solidFill>
            <a:srgbClr val="FFFFFF"/>
          </a:solidFill>
          <a:ln w="12700">
            <a:solidFill>
              <a:srgbClr val="FFFFFF"/>
            </a:solidFill>
            <a:prstDash val="solid"/>
          </a:ln>
          <a:effectLst>
            <a:outerShdw sx="100000" sy="100000" kx="0" ky="0" algn="bl" rotWithShape="0" blurRad="101600" dist="25400" dir="5400000">
              <a:srgbClr val="0B1F3A">
                <a:alpha val="12000"/>
              </a:srgbClr>
            </a:outerShdw>
          </a:effectLst>
        </p:spPr>
      </p:sp>
      <p:pic>
        <p:nvPicPr>
          <p:cNvPr id="5" name="Image 0" descr="/home/claude/assets/cert2.png">    </p:cNvPr>
          <p:cNvPicPr>
            <a:picLocks noChangeAspect="1"/>
          </p:cNvPicPr>
          <p:nvPr/>
        </p:nvPicPr>
        <p:blipFill>
          <a:blip r:embed="rId1"/>
          <a:stretch>
            <a:fillRect/>
          </a:stretch>
        </p:blipFill>
        <p:spPr>
          <a:xfrm>
            <a:off x="1698804" y="1143000"/>
            <a:ext cx="5746393" cy="35661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217920" y="2377440"/>
            <a:ext cx="4572000" cy="4572000"/>
          </a:xfrm>
          <a:prstGeom prst="ellipse">
            <a:avLst/>
          </a:prstGeom>
          <a:solidFill>
            <a:srgbClr val="0F62FE">
              <a:alpha val="25000"/>
            </a:srgbClr>
          </a:solidFill>
          <a:ln w="12700">
            <a:solidFill>
              <a:srgbClr val="0F62FE"/>
            </a:solidFill>
            <a:prstDash val="solid"/>
          </a:ln>
        </p:spPr>
      </p:sp>
      <p:sp>
        <p:nvSpPr>
          <p:cNvPr id="3" name="Text 1"/>
          <p:cNvSpPr txBox="1"/>
          <p:nvPr/>
        </p:nvSpPr>
        <p:spPr>
          <a:xfrm>
            <a:off x="731520" y="1554480"/>
            <a:ext cx="768096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4" name="Text 2"/>
          <p:cNvSpPr txBox="1"/>
          <p:nvPr/>
        </p:nvSpPr>
        <p:spPr>
          <a:xfrm>
            <a:off x="731520" y="2743200"/>
            <a:ext cx="7680960" cy="457200"/>
          </a:xfrm>
          <a:prstGeom prst="rect">
            <a:avLst/>
          </a:prstGeom>
          <a:noFill/>
          <a:ln/>
        </p:spPr>
        <p:txBody>
          <a:bodyPr wrap="square" lIns="0" tIns="0" rIns="0" bIns="0" rtlCol="0" anchor="ctr"/>
          <a:lstStyle/>
          <a:p>
            <a:pPr indent="0" marL="0">
              <a:buNone/>
            </a:pPr>
            <a:r>
              <a:rPr lang="en-US" sz="1800" dirty="0">
                <a:solidFill>
                  <a:srgbClr val="A6C8FF"/>
                </a:solidFill>
                <a:latin typeface="Calibri" pitchFamily="34" charset="0"/>
                <a:ea typeface="Calibri" pitchFamily="34" charset="-122"/>
                <a:cs typeface="Calibri" pitchFamily="34" charset="-120"/>
              </a:rPr>
              <a:t>Thank you for your time and interest.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2026-09-23T15:12:46Z</dcterms:created>
  <dcterms:modified xsi:type="dcterms:W3CDTF">2026-09-23T15:12:46Z</dcterms:modified>
</cp:coreProperties>
</file>